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4"/>
  </p:sldMasterIdLst>
  <p:notesMasterIdLst>
    <p:notesMasterId r:id="rId39"/>
  </p:notesMasterIdLst>
  <p:sldIdLst>
    <p:sldId id="256" r:id="rId5"/>
    <p:sldId id="259" r:id="rId6"/>
    <p:sldId id="292" r:id="rId7"/>
    <p:sldId id="281" r:id="rId8"/>
    <p:sldId id="293" r:id="rId9"/>
    <p:sldId id="286" r:id="rId10"/>
    <p:sldId id="314" r:id="rId11"/>
    <p:sldId id="306" r:id="rId12"/>
    <p:sldId id="305" r:id="rId13"/>
    <p:sldId id="294" r:id="rId14"/>
    <p:sldId id="287" r:id="rId15"/>
    <p:sldId id="304" r:id="rId16"/>
    <p:sldId id="302" r:id="rId17"/>
    <p:sldId id="307" r:id="rId18"/>
    <p:sldId id="308" r:id="rId19"/>
    <p:sldId id="288" r:id="rId20"/>
    <p:sldId id="319" r:id="rId21"/>
    <p:sldId id="310" r:id="rId22"/>
    <p:sldId id="296" r:id="rId23"/>
    <p:sldId id="299" r:id="rId24"/>
    <p:sldId id="316" r:id="rId25"/>
    <p:sldId id="317" r:id="rId26"/>
    <p:sldId id="318" r:id="rId27"/>
    <p:sldId id="311" r:id="rId28"/>
    <p:sldId id="309" r:id="rId29"/>
    <p:sldId id="313" r:id="rId30"/>
    <p:sldId id="297" r:id="rId31"/>
    <p:sldId id="282" r:id="rId32"/>
    <p:sldId id="315" r:id="rId33"/>
    <p:sldId id="290" r:id="rId34"/>
    <p:sldId id="298" r:id="rId35"/>
    <p:sldId id="283" r:id="rId36"/>
    <p:sldId id="284" r:id="rId37"/>
    <p:sldId id="312" r:id="rId38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 medi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Stil mediu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Stil mediu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os Sauciuc" userId="S::sauciuc.gh.stefanos@student.utcluj.ro::9af801f5-6d62-4ff0-b26e-c5114633f679" providerId="AD" clId="Web-{45356CAF-72D1-4C0E-B404-D524A7ED2576}"/>
    <pc:docChg chg="modSld">
      <pc:chgData name="Stefanos Sauciuc" userId="S::sauciuc.gh.stefanos@student.utcluj.ro::9af801f5-6d62-4ff0-b26e-c5114633f679" providerId="AD" clId="Web-{45356CAF-72D1-4C0E-B404-D524A7ED2576}" dt="2024-06-02T09:09:38.954" v="1" actId="20577"/>
      <pc:docMkLst>
        <pc:docMk/>
      </pc:docMkLst>
      <pc:sldChg chg="modSp">
        <pc:chgData name="Stefanos Sauciuc" userId="S::sauciuc.gh.stefanos@student.utcluj.ro::9af801f5-6d62-4ff0-b26e-c5114633f679" providerId="AD" clId="Web-{45356CAF-72D1-4C0E-B404-D524A7ED2576}" dt="2024-06-02T09:09:38.954" v="1" actId="20577"/>
        <pc:sldMkLst>
          <pc:docMk/>
          <pc:sldMk cId="0" sldId="281"/>
        </pc:sldMkLst>
        <pc:spChg chg="mod">
          <ac:chgData name="Stefanos Sauciuc" userId="S::sauciuc.gh.stefanos@student.utcluj.ro::9af801f5-6d62-4ff0-b26e-c5114633f679" providerId="AD" clId="Web-{45356CAF-72D1-4C0E-B404-D524A7ED2576}" dt="2024-06-02T09:09:38.954" v="1" actId="20577"/>
          <ac:spMkLst>
            <pc:docMk/>
            <pc:sldMk cId="0" sldId="281"/>
            <ac:spMk id="5123" creationId="{43A67C9C-04D0-5A38-6A73-CC187358773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6FA828A-B129-FC8B-1CC7-16CCD7D754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E3483F6-31CE-54A5-B538-B4E4C57FA7D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9DCA3BAE-8907-A342-0A79-D8D076B3A7E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B8A90065-EC0C-0EAD-7CDB-4D769B5E5D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Click to edit Master text styles</a:t>
            </a:r>
          </a:p>
          <a:p>
            <a:pPr lvl="1"/>
            <a:r>
              <a:rPr lang="ru-RU" noProof="0"/>
              <a:t>Second level</a:t>
            </a:r>
          </a:p>
          <a:p>
            <a:pPr lvl="2"/>
            <a:r>
              <a:rPr lang="ru-RU" noProof="0"/>
              <a:t>Third level</a:t>
            </a:r>
          </a:p>
          <a:p>
            <a:pPr lvl="3"/>
            <a:r>
              <a:rPr lang="ru-RU" noProof="0"/>
              <a:t>Fourth level</a:t>
            </a:r>
          </a:p>
          <a:p>
            <a:pPr lvl="4"/>
            <a:r>
              <a:rPr lang="ru-RU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3ED9D70D-6521-9C9B-7EDD-653B65F855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DA3BAD06-F7DA-9FCC-2F39-A6FA7E0E5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852BAA6-4A63-40CB-8D4A-F00610DCC054}" type="slidenum">
              <a:rPr lang="ru-RU" altLang="en-US"/>
              <a:pPr/>
              <a:t>‹#›</a:t>
            </a:fld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8ECE00F7-7303-78A7-EAFF-1C425A3B0F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534D38C-6EFC-4B3A-8692-4C2D2F9101BE}" type="slidenum">
              <a:rPr lang="ru-RU" altLang="en-US">
                <a:latin typeface="Arial" panose="020B0604020202020204" pitchFamily="34" charset="0"/>
              </a:rPr>
              <a:pPr eaLnBrk="1" hangingPunct="1"/>
              <a:t>2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4FD5997-D21D-AA25-2FFB-4E442CB115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4F74CD98-3D99-D9A1-8B68-F6E27786B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F7F34-31BA-9C79-CD1F-69E89A704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79FC79BC-E30C-BBD9-C5FC-8750F9015A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534D38C-6EFC-4B3A-8692-4C2D2F9101BE}" type="slidenum">
              <a:rPr lang="ru-RU" altLang="en-US">
                <a:latin typeface="Arial" panose="020B0604020202020204" pitchFamily="34" charset="0"/>
              </a:rPr>
              <a:pPr eaLnBrk="1" hangingPunct="1"/>
              <a:t>3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0E5AE49-76EC-5B81-A9D8-229965F460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7E1A54C-B838-94D7-9EEB-2AF556D481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829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57453A49-5692-3C76-4ED0-02D6C702B5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6C07479-3589-45C0-8E7A-D4EA8A234CC9}" type="slidenum">
              <a:rPr lang="ru-RU" altLang="en-US">
                <a:latin typeface="Arial" panose="020B0604020202020204" pitchFamily="34" charset="0"/>
              </a:rPr>
              <a:pPr eaLnBrk="1" hangingPunct="1"/>
              <a:t>4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E1F2DCC5-6C30-1EB0-3987-3A1B44A763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125C511B-7B54-8A7C-10A8-DEF91A79D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74D31-A171-292B-EE79-C73E55F71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2553C323-75F5-73BD-2288-C1EEC876AC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6C07479-3589-45C0-8E7A-D4EA8A234CC9}" type="slidenum">
              <a:rPr lang="ru-RU" altLang="en-US">
                <a:latin typeface="Arial" panose="020B0604020202020204" pitchFamily="34" charset="0"/>
              </a:rPr>
              <a:pPr eaLnBrk="1" hangingPunct="1"/>
              <a:t>5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371617C-8501-9F85-56A6-349036D781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63599889-4CBB-9617-24FB-8995FCEC6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270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293E232E-79C0-A4FF-40A5-DB7BFFFE73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7F79C52-0E1D-46B9-9E07-34D345D22BA4}" type="slidenum">
              <a:rPr lang="ru-RU" altLang="en-US">
                <a:latin typeface="Arial" panose="020B0604020202020204" pitchFamily="34" charset="0"/>
              </a:rPr>
              <a:pPr eaLnBrk="1" hangingPunct="1"/>
              <a:t>6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6E455D1-F70E-21BC-4C46-A90E997A6F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80015535-911B-D8F5-FD28-659832BEF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8951F-6CDA-5FCE-F565-622F56D9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F8455D5D-3A01-EE39-FCA6-C396ACE75A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7F79C52-0E1D-46B9-9E07-34D345D22BA4}" type="slidenum">
              <a:rPr lang="ru-RU" altLang="en-US">
                <a:latin typeface="Arial" panose="020B0604020202020204" pitchFamily="34" charset="0"/>
              </a:rPr>
              <a:pPr eaLnBrk="1" hangingPunct="1"/>
              <a:t>7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1506C005-8AE5-DDA8-54D7-B079786DB6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12149AA-501A-0AB4-1FD8-0B86D59182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903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4D36A-ECAD-6339-4104-D7890EC5D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A59E85C-6C50-DB0E-12BB-F3B14C624F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7F79C52-0E1D-46B9-9E07-34D345D22BA4}" type="slidenum">
              <a:rPr lang="ru-RU" altLang="en-US">
                <a:latin typeface="Arial" panose="020B0604020202020204" pitchFamily="34" charset="0"/>
              </a:rPr>
              <a:pPr eaLnBrk="1" hangingPunct="1"/>
              <a:t>8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3DCBA41-5B43-886D-4D70-544C8111C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97D1CF00-D88A-1F1E-27E2-F17ACA443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121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DD8F8-9C27-CECA-CE9E-F0819FCC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3DF7991D-D83D-0AB4-7508-3841BF096B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7F79C52-0E1D-46B9-9E07-34D345D22BA4}" type="slidenum">
              <a:rPr lang="ru-RU" altLang="en-US">
                <a:latin typeface="Arial" panose="020B0604020202020204" pitchFamily="34" charset="0"/>
              </a:rPr>
              <a:pPr eaLnBrk="1" hangingPunct="1"/>
              <a:t>9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F8BE90CE-F52A-F317-C455-1BEC0E751B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9D3700E8-5013-7BBE-2F53-61AF99E7C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51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013AE-2582-CEEF-3BD5-F8FD69538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8EBE5C51-AE84-DBBB-2230-01E4BE615E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7F79C52-0E1D-46B9-9E07-34D345D22BA4}" type="slidenum">
              <a:rPr lang="ru-RU" altLang="en-US">
                <a:latin typeface="Arial" panose="020B0604020202020204" pitchFamily="34" charset="0"/>
              </a:rPr>
              <a:pPr eaLnBrk="1" hangingPunct="1"/>
              <a:t>10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70318AA0-39CF-C5C8-C3BD-18202E01E5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F8A8DEFD-2005-CAF5-4D60-F86B8DE600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752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2190EA62-D076-BF2D-35B2-1A7B9C95FF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DAAD5F-1EBC-44CD-A6F6-55DF3DF80B9F}" type="slidenum">
              <a:rPr lang="ru-RU" altLang="en-US">
                <a:latin typeface="Arial" panose="020B0604020202020204" pitchFamily="34" charset="0"/>
              </a:rPr>
              <a:pPr eaLnBrk="1" hangingPunct="1"/>
              <a:t>11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AA02BEF6-0FD9-1BB4-C558-C190B17B44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0867C19-45F0-5894-58C1-FC71029A61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36559-13BF-6EAE-9928-F72172425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BCC4482B-15CB-B05C-5CB6-47AE2701F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DAAD5F-1EBC-44CD-A6F6-55DF3DF80B9F}" type="slidenum">
              <a:rPr lang="ru-RU" altLang="en-US">
                <a:latin typeface="Arial" panose="020B0604020202020204" pitchFamily="34" charset="0"/>
              </a:rPr>
              <a:pPr eaLnBrk="1" hangingPunct="1"/>
              <a:t>12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3EA55567-CF26-049C-762D-B1C04CF633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DFB3F290-DE1F-4FE3-FEFC-529FF64D3C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295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8A644-EE3B-07CB-794A-5096811EF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B6D87F63-1D08-781C-5CA1-4240E8C996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DAAD5F-1EBC-44CD-A6F6-55DF3DF80B9F}" type="slidenum">
              <a:rPr lang="ru-RU" altLang="en-US">
                <a:latin typeface="Arial" panose="020B0604020202020204" pitchFamily="34" charset="0"/>
              </a:rPr>
              <a:pPr eaLnBrk="1" hangingPunct="1"/>
              <a:t>13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2191E950-EF8A-0E67-5D6B-BA5724818B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A259CC67-CE29-9442-9FBB-FC76009C8E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4720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CE479-32B8-28C7-12B3-FF0E9C5E4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6AAB6A1-224D-4EE2-9003-166785666E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DAAD5F-1EBC-44CD-A6F6-55DF3DF80B9F}" type="slidenum">
              <a:rPr lang="ru-RU" altLang="en-US">
                <a:latin typeface="Arial" panose="020B0604020202020204" pitchFamily="34" charset="0"/>
              </a:rPr>
              <a:pPr eaLnBrk="1" hangingPunct="1"/>
              <a:t>14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6F1CF5BC-F8C6-7484-BC7A-207910F789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1A528239-C942-A6E2-1A0F-A294CE0FF1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2687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C71F1-9CFC-8603-5422-804C523B9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56D2D95E-82FE-E23E-504F-B68E9687CD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DAAD5F-1EBC-44CD-A6F6-55DF3DF80B9F}" type="slidenum">
              <a:rPr lang="ru-RU" altLang="en-US">
                <a:latin typeface="Arial" panose="020B0604020202020204" pitchFamily="34" charset="0"/>
              </a:rPr>
              <a:pPr eaLnBrk="1" hangingPunct="1"/>
              <a:t>15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C68ED1B5-B988-78D7-8371-F02EE79A6A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8E9A37F0-A12C-F9DE-9917-D2CF57B925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7006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CFF99F86-5AEB-F891-1081-E32EC57771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FC744B1-9D21-4AE5-BCFE-DA906B68FBDC}" type="slidenum">
              <a:rPr lang="ru-RU" altLang="en-US">
                <a:latin typeface="Arial" panose="020B0604020202020204" pitchFamily="34" charset="0"/>
              </a:rPr>
              <a:pPr eaLnBrk="1" hangingPunct="1"/>
              <a:t>16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90A3817-1C82-6405-5E0C-6194235837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8DA6952C-0272-576D-C951-30EED6B5F9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6EE78-95E1-90DB-C10D-B91EA545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99BA78E-54F8-EC15-69F9-3CE62F5204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FC744B1-9D21-4AE5-BCFE-DA906B68FBDC}" type="slidenum">
              <a:rPr lang="ru-RU" altLang="en-US">
                <a:latin typeface="Arial" panose="020B0604020202020204" pitchFamily="34" charset="0"/>
              </a:rPr>
              <a:pPr eaLnBrk="1" hangingPunct="1"/>
              <a:t>17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A6B8685D-40BE-2E98-A2C0-C3398AA3E4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543265D4-4969-C814-D99D-048C80C057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2172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4285F-D5B1-C312-8568-A4E237AB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2559BC19-D132-C6FC-DF5C-415B85605B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FC744B1-9D21-4AE5-BCFE-DA906B68FBDC}" type="slidenum">
              <a:rPr lang="ru-RU" altLang="en-US">
                <a:latin typeface="Arial" panose="020B0604020202020204" pitchFamily="34" charset="0"/>
              </a:rPr>
              <a:pPr eaLnBrk="1" hangingPunct="1"/>
              <a:t>18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BE35690-C55C-2071-B587-48D8CA95A0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D650BCEB-04DA-6FB6-9D7C-F7ED5C7390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086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15F8-FEB1-308A-67C5-7673C0349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AE979B09-2D09-E0F6-F350-60A42120E6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FC744B1-9D21-4AE5-BCFE-DA906B68FBDC}" type="slidenum">
              <a:rPr lang="ru-RU" altLang="en-US">
                <a:latin typeface="Arial" panose="020B0604020202020204" pitchFamily="34" charset="0"/>
              </a:rPr>
              <a:pPr eaLnBrk="1" hangingPunct="1"/>
              <a:t>19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5A13F306-1E2F-FB20-4546-27754DA95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F2B48BC-4C3E-262C-4C31-AB2CE8F017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674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7E96C-C76C-92CC-1647-CAA8B3013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820CE45F-F460-B0A6-C223-1D065A5EE9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FC744B1-9D21-4AE5-BCFE-DA906B68FBDC}" type="slidenum">
              <a:rPr lang="ru-RU" altLang="en-US">
                <a:latin typeface="Arial" panose="020B0604020202020204" pitchFamily="34" charset="0"/>
              </a:rPr>
              <a:pPr eaLnBrk="1" hangingPunct="1"/>
              <a:t>20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992CE3B9-C742-23E8-C732-834754E31C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8FACBA0-D7AD-9D64-476F-E986D6C8A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573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7679E-FB9E-A33F-D072-9993D5B6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B31B2171-8B81-EA44-EDBB-4B8906F368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DAAD5F-1EBC-44CD-A6F6-55DF3DF80B9F}" type="slidenum">
              <a:rPr lang="ru-RU" altLang="en-US">
                <a:latin typeface="Arial" panose="020B0604020202020204" pitchFamily="34" charset="0"/>
              </a:rPr>
              <a:pPr eaLnBrk="1" hangingPunct="1"/>
              <a:t>21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D78C71A6-B428-65A9-4C41-AD12802F88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25F7CC38-C10C-F96D-025E-962430BF6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8183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16D23-1FFC-1C58-CA8D-E9812145B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6E59E1D8-4E68-038F-2FFB-AE2EF5DEDD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DAAD5F-1EBC-44CD-A6F6-55DF3DF80B9F}" type="slidenum">
              <a:rPr lang="ru-RU" altLang="en-US">
                <a:latin typeface="Arial" panose="020B0604020202020204" pitchFamily="34" charset="0"/>
              </a:rPr>
              <a:pPr eaLnBrk="1" hangingPunct="1"/>
              <a:t>22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01E32A4-5FD8-9E99-6012-EEDA070A1E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3A6FE23-2BE1-4DEE-A4D9-6497E1AE0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1641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76B5C-7566-6829-89C5-AA965AEC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DB6FE0F9-A8F5-8A92-C983-A3BE0F7C93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DAAD5F-1EBC-44CD-A6F6-55DF3DF80B9F}" type="slidenum">
              <a:rPr lang="ru-RU" altLang="en-US">
                <a:latin typeface="Arial" panose="020B0604020202020204" pitchFamily="34" charset="0"/>
              </a:rPr>
              <a:pPr eaLnBrk="1" hangingPunct="1"/>
              <a:t>23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7C00544-6332-703E-F9A8-D2CCC55FF2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9CFCC07B-148E-9F7A-D673-B60DDA2563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5952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DA10-1E60-919D-72C5-30A7D706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63EF58D-EEAB-F4F1-93F4-63ACB6B298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FC744B1-9D21-4AE5-BCFE-DA906B68FBDC}" type="slidenum">
              <a:rPr lang="ru-RU" altLang="en-US">
                <a:latin typeface="Arial" panose="020B0604020202020204" pitchFamily="34" charset="0"/>
              </a:rPr>
              <a:pPr eaLnBrk="1" hangingPunct="1"/>
              <a:t>24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FCC4F98-A94E-6CFB-270B-72B6B53D5E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68983944-50E7-49ED-4D58-B70072B084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2710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4ED76-8784-BFD9-CE16-201A79410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9C86C36E-99C2-8176-8BB7-7A19B9E27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FC744B1-9D21-4AE5-BCFE-DA906B68FBDC}" type="slidenum">
              <a:rPr lang="ru-RU" altLang="en-US">
                <a:latin typeface="Arial" panose="020B0604020202020204" pitchFamily="34" charset="0"/>
              </a:rPr>
              <a:pPr eaLnBrk="1" hangingPunct="1"/>
              <a:t>25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39DF52E-057A-4417-A40B-55A10E0F1D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3D3C75BB-9710-B1CB-A3BA-084F41B96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0705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36802-25FB-70CD-89FC-5214A0615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80CA34F5-04C9-0226-A356-071B2AD4B8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FC744B1-9D21-4AE5-BCFE-DA906B68FBDC}" type="slidenum">
              <a:rPr lang="ru-RU" altLang="en-US">
                <a:latin typeface="Arial" panose="020B0604020202020204" pitchFamily="34" charset="0"/>
              </a:rPr>
              <a:pPr eaLnBrk="1" hangingPunct="1"/>
              <a:t>26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940B1F3F-42D6-F35E-240D-9CE7599F2D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E93C5C38-2859-6754-818D-6C91C3BF2F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7047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A8E16-35F6-9A1E-863D-FCFA313B7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F60F3AD8-983C-4B53-7E82-8DADD047DC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25A90FE-40D2-4F5A-956F-7B78AFE4F38E}" type="slidenum">
              <a:rPr lang="ru-RU" altLang="en-US">
                <a:latin typeface="Arial" panose="020B0604020202020204" pitchFamily="34" charset="0"/>
              </a:rPr>
              <a:pPr eaLnBrk="1" hangingPunct="1"/>
              <a:t>27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1C1DAC88-63CC-B53B-9C74-0E5FBDB73D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940426C3-C1DF-2B3B-8938-3191CA012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5606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5CCAFB6D-2F97-A2B2-5A6E-E32995325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25A90FE-40D2-4F5A-956F-7B78AFE4F38E}" type="slidenum">
              <a:rPr lang="ru-RU" altLang="en-US">
                <a:latin typeface="Arial" panose="020B0604020202020204" pitchFamily="34" charset="0"/>
              </a:rPr>
              <a:pPr eaLnBrk="1" hangingPunct="1"/>
              <a:t>28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FB337B5-C7C2-D389-9DCF-90BE4841A4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EF8168D2-190B-6104-5FDE-2E5D7C77BC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1A66C-3D20-19A8-237A-85152AC38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5C2A88EF-A57A-F873-5BF9-3EC08E9108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25A90FE-40D2-4F5A-956F-7B78AFE4F38E}" type="slidenum">
              <a:rPr lang="ru-RU" altLang="en-US">
                <a:latin typeface="Arial" panose="020B0604020202020204" pitchFamily="34" charset="0"/>
              </a:rPr>
              <a:pPr eaLnBrk="1" hangingPunct="1"/>
              <a:t>29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56C38E7-3C88-B5F2-97B2-569A6FD44F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91DDC56-AA06-ACE4-48B7-F175C7B448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859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4EABDE4A-C653-60E7-98C6-1E972790A1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2F74FA3-3B8E-4D39-81B6-60EA94816FA9}" type="slidenum">
              <a:rPr lang="ru-RU" altLang="en-US">
                <a:latin typeface="Arial" panose="020B0604020202020204" pitchFamily="34" charset="0"/>
              </a:rPr>
              <a:pPr eaLnBrk="1" hangingPunct="1"/>
              <a:t>30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403D9280-677F-89B5-2490-295367439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DC624A8B-3DBD-6791-71CF-6C4402062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E7D36-9461-0E5F-D2FE-D88DA60F8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ADBBC0B7-7A71-3780-9F4D-A51226AD7C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2F74FA3-3B8E-4D39-81B6-60EA94816FA9}" type="slidenum">
              <a:rPr lang="ru-RU" altLang="en-US">
                <a:latin typeface="Arial" panose="020B0604020202020204" pitchFamily="34" charset="0"/>
              </a:rPr>
              <a:pPr eaLnBrk="1" hangingPunct="1"/>
              <a:t>31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0770555F-24E9-F6A5-31C7-D6000876DE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A4A0197-A69D-4242-FC85-58F63EDCE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4411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47657467-3C12-0E6D-7DA7-E0E2EA6DE6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8B7B7B3-8CFE-4B20-9BC1-5B65D665DEAB}" type="slidenum">
              <a:rPr lang="ru-RU" altLang="en-US">
                <a:latin typeface="Arial" panose="020B0604020202020204" pitchFamily="34" charset="0"/>
              </a:rPr>
              <a:pPr eaLnBrk="1" hangingPunct="1"/>
              <a:t>32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9CF65F4C-6CB4-0616-B826-BBF10F1382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6EEB60B6-9780-D9EB-AE81-A83D34250E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D52BEF13-A09C-6317-2AB4-FC3C95771E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6E03981-ACB4-48D2-B767-E7BD437C64C1}" type="slidenum">
              <a:rPr lang="ru-RU" altLang="en-US">
                <a:latin typeface="Arial" panose="020B0604020202020204" pitchFamily="34" charset="0"/>
              </a:rPr>
              <a:pPr eaLnBrk="1" hangingPunct="1"/>
              <a:t>33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A3D5E032-5242-44B2-5F40-6EA82DB5CD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2BC10319-76E4-08A0-D196-D0E68E2A2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3466F-D276-9E25-1610-B362FD1A2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3E252E21-2472-2BEA-E8A7-5902A6FE0E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6E03981-ACB4-48D2-B767-E7BD437C64C1}" type="slidenum">
              <a:rPr lang="ru-RU" altLang="en-US">
                <a:latin typeface="Arial" panose="020B0604020202020204" pitchFamily="34" charset="0"/>
              </a:rPr>
              <a:pPr eaLnBrk="1" hangingPunct="1"/>
              <a:t>34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D8C9168-29CD-63F4-AF6B-71899B173E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180E5193-B794-B853-415A-E7CD9E9877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171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2E52DB7-AE92-7934-1BCE-3A00D67C18D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E7C8A03-EA05-EF77-9E6E-1AF679686F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054799D7-DC04-6E74-D130-6854E7EFE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CFF10637-EA02-7EC1-CB26-6D92EC5783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2535ED39-C2E6-3F1A-EAC0-ABA25C02D3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016572A-E215-1923-80D3-07F39D4E0D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74F0FF7-71EC-B51F-8AC4-B11B24D378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3A456C6A-0A71-DFFA-E283-15EA79FDD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FB49D002-4ABF-CBFC-C5EB-E5D7563BC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ABF786DF-A427-59CA-1E9C-64BF230D566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charset="0"/>
              </a:endParaRPr>
            </a:p>
          </p:txBody>
        </p:sp>
      </p:grpSp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Click to edit Master title style</a:t>
            </a:r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u-RU"/>
              <a:t>Click to edit Master subtitle style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5D74B576-4048-42D1-F9D1-10F2381620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B4723CD5-907A-ABD8-BA60-41B5F35C26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050DF337-D0BD-7229-C25E-DBB1B7797A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E10E5C9-B7BA-47C9-81D4-42C724AC4606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96695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B46EA8B-ECDF-A337-E562-0E3AAB9EF7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088F41F-B0C5-2DEC-1641-F084F58442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50C0E1E-391E-2383-8256-27A188EF63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E3989D-C2A9-4E09-91FE-18AC84567D81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665473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DC3F280-969C-9528-C486-7698E2085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2B60A99-731D-7F83-DFC3-3BBD63856E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0E849F1-2EDA-3BBC-5275-F7006E6F4E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999FEE-114A-4954-993E-78C50E269793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247550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42F6770-9DDF-57F6-845B-F804DF63F8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309CB9F-AF12-8818-9FF4-0DD53EA9F2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5C5622F-B38C-BB24-8F4D-1874952EBE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787705-CE7B-4BFB-BE07-5989ABA31CD3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779881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BFAD3F8-1D55-A8D3-8F84-D23BCCC51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9F0D4C83-F355-9BF7-11DA-7E0A5E67D2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20ABC428-34FA-0C98-20B4-8F861A0AE3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AB074C-EB14-4F70-B283-FA0658615F7F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16486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A33F8A3-013B-FDC8-3F57-1D608EDBAE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A8378D1-41E1-30C3-9F92-2C6289E704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6B2C312-33DD-2958-C350-FD664B5E96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18D454-4161-42D8-8D9A-D16EEC919E6A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80207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E1AB5EE4-0DC7-019C-604C-5D3D49E632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DC42BE2-B577-50E9-B29D-BDB01267B0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FCB53EC1-3922-9019-277F-7226E3E79F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06F59D-A1DB-4F13-8C98-186132195769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76817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184BD60-B9CF-3379-F180-DFD90222EC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4734620-B2EC-9E4E-7CC0-9FB7D9A870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4F20404-D5C6-22B2-5020-1D111964F4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FDDB4A-EEF6-4909-8559-6EC6C97DF96D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08697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74CB100-AAB1-11EE-4001-5CA39D8F75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AEA0798-2430-0B2D-1956-860E26B420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D61AFB5-3E19-1269-18F0-CB70564865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25E927-4DC3-4CC6-AC23-3628555B9B2B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50072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B3636B4-A086-1A25-69D7-8657D6603A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E02DF45-E5C8-C97B-6691-B67BFFED12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CFCE52B-0DFF-D111-DB3C-988DE96931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320459-959B-4607-9977-F22533775CBC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002912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D982FB1-0A07-5D24-276A-8009C458AE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118C36E-0714-25E8-C713-394431E5A4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6C4808E-E0B6-9C10-82D4-A80A12F67E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2D7D94-C554-4389-BD4C-43758B1F28D7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138810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7F84528-1AC5-34A2-92FD-AA267B2123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DBA97BF-8541-7DBF-35F5-CF2CDAA8D3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4BEE56C-8C44-33FF-EC82-D53594E799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068A08-8FDF-463E-A795-C781716982C7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720704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6F6169B-ABEA-4B24-F4B6-1A7A49D579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0717D7B-404C-C50F-E4B4-36C1443032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A1620AC-D940-1D51-13B6-2E43017E2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ABD473-04BA-4E6F-A708-E5BCD68C5E8D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086568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189577E-4788-32C6-7DA5-B5E2FC9522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CE931AF-EA7B-8CC2-DC2F-4E0A4B983C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20D090B-7646-D15A-2C83-E97D16E19A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43AC44-95B8-4D50-A9A0-52D67D871802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742738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A00D226-5048-6377-7542-C57E8FAD41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FA3E3BE3-4A9F-C9B0-ED3E-BB23A22BEA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8A8DC9F-9100-6294-638B-26739DE4B4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77CF82-3465-4CE8-B778-69F98F3E770F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27017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4D8B462-E490-2FDF-0869-D9F4B49B477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cs typeface="Arial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78C3597-B4B9-CC14-2FFB-B25704CD1D1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cs typeface="Arial" charset="0"/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830CD6A9-ECA0-EF2C-6E38-A369A7A8CCE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cs typeface="Arial" charset="0"/>
            </a:endParaRP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49FE3915-DAF6-8C32-CCAA-648BC0E0AF6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cs typeface="Arial" charset="0"/>
            </a:endParaRP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C90DD59B-233B-CDC5-4EFB-CF20D6B4203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cs typeface="Arial" charset="0"/>
            </a:endParaRPr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451BB977-094F-CC2A-0BF1-97C0ADDC5FF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cs typeface="Arial" charset="0"/>
            </a:endParaRPr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43C3CB1C-AE94-6B50-B8EE-138D08B4D7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cs typeface="Arial" charset="0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ECC70CBB-7DC7-D0F6-BB3D-47B34431B9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en-US"/>
              <a:t>Click to edit Master title style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401AD316-1A08-E5FB-C8BD-A2E16BF573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en-US"/>
              <a:t>Click to edit Master text styles</a:t>
            </a:r>
          </a:p>
          <a:p>
            <a:pPr lvl="1"/>
            <a:r>
              <a:rPr lang="ru-RU" altLang="en-US"/>
              <a:t>Second level</a:t>
            </a:r>
          </a:p>
          <a:p>
            <a:pPr lvl="2"/>
            <a:r>
              <a:rPr lang="ru-RU" altLang="en-US"/>
              <a:t>Third level</a:t>
            </a:r>
          </a:p>
          <a:p>
            <a:pPr lvl="3"/>
            <a:r>
              <a:rPr lang="ru-RU" altLang="en-US"/>
              <a:t>Fourth level</a:t>
            </a:r>
          </a:p>
          <a:p>
            <a:pPr lvl="4"/>
            <a:r>
              <a:rPr lang="ru-RU" altLang="en-US"/>
              <a:t>Fifth level</a:t>
            </a:r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AF21502C-0C99-E1C8-82F9-564427B3617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BD770D76-54F5-334E-3C36-11188381506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182EB163-CA68-3D3C-408B-7F1250D323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3A3090D-9900-4F83-B6CF-5DD05E65B5F8}" type="slidenum">
              <a:rPr lang="ru-RU" altLang="en-US"/>
              <a:pPr/>
              <a:t>‹#›</a:t>
            </a:fld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BBB2918-00B5-2E9C-3077-3CB544EED5B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70935" y="2819400"/>
            <a:ext cx="11614355" cy="1004888"/>
          </a:xfrm>
        </p:spPr>
        <p:txBody>
          <a:bodyPr/>
          <a:lstStyle/>
          <a:p>
            <a:pPr eaLnBrk="1" hangingPunct="1"/>
            <a:r>
              <a:rPr lang="en-GB" sz="3600" dirty="0"/>
              <a:t>FILTRAREA ZGOMOTULUI DE FUNDAL</a:t>
            </a:r>
            <a:br>
              <a:rPr lang="en-GB" sz="3600" dirty="0"/>
            </a:br>
            <a:r>
              <a:rPr lang="en-GB" sz="3600" dirty="0"/>
              <a:t>ÎN CONVERSAȚIILE TELEFONICE – </a:t>
            </a:r>
            <a:br>
              <a:rPr lang="en-GB" sz="3600" dirty="0"/>
            </a:br>
            <a:endParaRPr lang="ru-RU" altLang="en-US" sz="3600" dirty="0"/>
          </a:p>
        </p:txBody>
      </p:sp>
      <p:sp>
        <p:nvSpPr>
          <p:cNvPr id="3075" name="TextBox 2">
            <a:extLst>
              <a:ext uri="{FF2B5EF4-FFF2-40B4-BE49-F238E27FC236}">
                <a16:creationId xmlns:a16="http://schemas.microsoft.com/office/drawing/2014/main" id="{FED2701C-838F-B4E5-9AEA-27CC34AE0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038600"/>
            <a:ext cx="510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/>
              <a:t>Zegreanu, Paul-Cristian  - Student</a:t>
            </a:r>
          </a:p>
          <a:p>
            <a:pPr eaLnBrk="1" hangingPunct="1"/>
            <a:r>
              <a:rPr lang="en-US" altLang="en-US" sz="2000" dirty="0"/>
              <a:t>eMail:paulzc6@gmail.com</a:t>
            </a:r>
            <a:endParaRPr lang="ro-RO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6C03389-E2EE-9D3C-78D2-5F7CB30C1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1. </a:t>
            </a:r>
            <a:r>
              <a:rPr lang="en-US" altLang="en-US" dirty="0" err="1"/>
              <a:t>Definirea</a:t>
            </a:r>
            <a:r>
              <a:rPr lang="en-US" altLang="en-US" dirty="0"/>
              <a:t> </a:t>
            </a:r>
            <a:r>
              <a:rPr lang="en-US" altLang="en-US" dirty="0" err="1"/>
              <a:t>problemei</a:t>
            </a:r>
            <a:endParaRPr lang="ru-RU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FAF0E77-1CEB-934D-E379-C23905DCF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3687" y="1958719"/>
            <a:ext cx="8650288" cy="4535487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Se </a:t>
            </a:r>
            <a:r>
              <a:rPr lang="en-US" altLang="en-US" sz="2000" dirty="0" err="1"/>
              <a:t>urmărește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dezvoltarea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unui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sistem</a:t>
            </a:r>
            <a:r>
              <a:rPr lang="en-US" altLang="en-US" sz="2000" dirty="0"/>
              <a:t> care </a:t>
            </a:r>
            <a:r>
              <a:rPr lang="en-US" altLang="en-US" sz="2000" dirty="0" err="1"/>
              <a:t>să</a:t>
            </a:r>
            <a:r>
              <a:rPr lang="en-US" altLang="en-US" sz="2000" dirty="0"/>
              <a:t> </a:t>
            </a:r>
            <a:r>
              <a:rPr lang="en-US" altLang="en-US" sz="2000" dirty="0" err="1"/>
              <a:t>filtreze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zgomotul</a:t>
            </a:r>
            <a:r>
              <a:rPr lang="en-US" altLang="en-US" sz="2000" dirty="0"/>
              <a:t> de fundal din </a:t>
            </a:r>
            <a:r>
              <a:rPr lang="en-US" altLang="en-US" sz="2000" dirty="0" err="1"/>
              <a:t>semnalele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vocale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telefonice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în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vederea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îmbunătățirii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clarității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și</a:t>
            </a:r>
            <a:r>
              <a:rPr lang="en-US" altLang="en-US" sz="2000" dirty="0"/>
              <a:t> a </a:t>
            </a:r>
            <a:r>
              <a:rPr lang="en-US" altLang="en-US" sz="2000" dirty="0" err="1"/>
              <a:t>clasificării</a:t>
            </a:r>
            <a:r>
              <a:rPr lang="en-US" altLang="en-US" sz="2000" dirty="0"/>
              <a:t> automate a </a:t>
            </a:r>
            <a:r>
              <a:rPr lang="en-US" altLang="en-US" sz="2000" dirty="0" err="1"/>
              <a:t>calității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vocii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utilizând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metode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prelucrare</a:t>
            </a:r>
            <a:r>
              <a:rPr lang="en-US" altLang="en-US" sz="2000" dirty="0"/>
              <a:t> audio </a:t>
            </a:r>
            <a:r>
              <a:rPr lang="en-US" altLang="en-US" sz="2000" dirty="0" err="1"/>
              <a:t>și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învățare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profundă</a:t>
            </a:r>
            <a:r>
              <a:rPr lang="en-US" altLang="en-US" sz="2000" dirty="0"/>
              <a:t>.</a:t>
            </a:r>
          </a:p>
          <a:p>
            <a:pPr eaLnBrk="1" hangingPunct="1"/>
            <a:endParaRPr lang="en-US" altLang="en-US" sz="2000" dirty="0"/>
          </a:p>
          <a:p>
            <a:pPr lvl="1" eaLnBrk="1" hangingPunct="1"/>
            <a:r>
              <a:rPr lang="en-US" altLang="en-US" sz="2000" dirty="0" err="1"/>
              <a:t>Subproblema:Eliminarea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componentelor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frecvență</a:t>
            </a:r>
            <a:r>
              <a:rPr lang="en-US" altLang="en-US" sz="2000" dirty="0"/>
              <a:t> </a:t>
            </a:r>
            <a:r>
              <a:rPr lang="en-US" altLang="en-US" sz="2000" dirty="0" err="1"/>
              <a:t>înaltă</a:t>
            </a:r>
            <a:r>
              <a:rPr lang="en-US" altLang="en-US" sz="2000" dirty="0"/>
              <a:t> </a:t>
            </a:r>
            <a:r>
              <a:rPr lang="en-US" altLang="en-US" sz="2000" dirty="0" err="1"/>
              <a:t>folosind</a:t>
            </a:r>
            <a:r>
              <a:rPr lang="en-US" altLang="en-US" sz="2000" dirty="0"/>
              <a:t> </a:t>
            </a:r>
            <a:r>
              <a:rPr lang="en-US" altLang="en-US" sz="2000" dirty="0" err="1"/>
              <a:t>filtre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digitale</a:t>
            </a:r>
            <a:r>
              <a:rPr lang="en-US" altLang="en-US" sz="2000" dirty="0"/>
              <a:t> FIR.</a:t>
            </a:r>
          </a:p>
          <a:p>
            <a:pPr lvl="1" eaLnBrk="1" hangingPunct="1"/>
            <a:r>
              <a:rPr lang="en-US" altLang="en-US" sz="2000" dirty="0" err="1"/>
              <a:t>Subproblema:Reducerea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zgomotului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folosind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tehnici</a:t>
            </a:r>
            <a:r>
              <a:rPr lang="en-US" altLang="en-US" sz="2000" dirty="0"/>
              <a:t> de denoising </a:t>
            </a:r>
            <a:r>
              <a:rPr lang="en-US" altLang="en-US" sz="2000" dirty="0" err="1"/>
              <a:t>bazate</a:t>
            </a:r>
            <a:r>
              <a:rPr lang="en-US" altLang="en-US" sz="2000" dirty="0"/>
              <a:t> pe Wavelet </a:t>
            </a:r>
            <a:r>
              <a:rPr lang="en-US" altLang="en-US" sz="2000" dirty="0" err="1"/>
              <a:t>și</a:t>
            </a:r>
            <a:r>
              <a:rPr lang="en-US" altLang="en-US" sz="2000" dirty="0"/>
              <a:t> Wiener.</a:t>
            </a:r>
          </a:p>
          <a:p>
            <a:pPr lvl="1" eaLnBrk="1" hangingPunct="1"/>
            <a:r>
              <a:rPr lang="en-US" altLang="en-US" sz="2000" dirty="0" err="1">
                <a:ea typeface="+mn-ea"/>
              </a:rPr>
              <a:t>Subproblema:Clasificarea</a:t>
            </a:r>
            <a:r>
              <a:rPr lang="en-US" altLang="en-US" sz="2000" dirty="0">
                <a:ea typeface="+mn-ea"/>
              </a:rPr>
              <a:t> </a:t>
            </a:r>
            <a:r>
              <a:rPr lang="en-US" altLang="en-US" sz="2000" dirty="0" err="1">
                <a:ea typeface="+mn-ea"/>
              </a:rPr>
              <a:t>semnalelor</a:t>
            </a:r>
            <a:r>
              <a:rPr lang="en-US" altLang="en-US" sz="2000" dirty="0">
                <a:ea typeface="+mn-ea"/>
              </a:rPr>
              <a:t> </a:t>
            </a:r>
            <a:r>
              <a:rPr lang="en-US" altLang="en-US" sz="2000" dirty="0" err="1">
                <a:ea typeface="+mn-ea"/>
              </a:rPr>
              <a:t>vocale</a:t>
            </a:r>
            <a:r>
              <a:rPr lang="en-US" altLang="en-US" sz="2000" dirty="0">
                <a:ea typeface="+mn-ea"/>
              </a:rPr>
              <a:t> (</a:t>
            </a:r>
            <a:r>
              <a:rPr lang="en-US" altLang="en-US" sz="2000" dirty="0" err="1">
                <a:ea typeface="+mn-ea"/>
              </a:rPr>
              <a:t>curat</a:t>
            </a:r>
            <a:r>
              <a:rPr lang="en-US" altLang="en-US" sz="2000" dirty="0">
                <a:ea typeface="+mn-ea"/>
              </a:rPr>
              <a:t>, cu </a:t>
            </a:r>
            <a:r>
              <a:rPr lang="en-US" altLang="en-US" sz="2000" dirty="0" err="1">
                <a:ea typeface="+mn-ea"/>
              </a:rPr>
              <a:t>zgomot</a:t>
            </a:r>
            <a:r>
              <a:rPr lang="en-US" altLang="en-US" sz="2000" dirty="0">
                <a:ea typeface="+mn-ea"/>
              </a:rPr>
              <a:t>, </a:t>
            </a:r>
            <a:r>
              <a:rPr lang="en-US" altLang="en-US" sz="2000" dirty="0" err="1">
                <a:ea typeface="+mn-ea"/>
              </a:rPr>
              <a:t>filtrat</a:t>
            </a:r>
            <a:r>
              <a:rPr lang="en-US" altLang="en-US" sz="2000" dirty="0">
                <a:ea typeface="+mn-ea"/>
              </a:rPr>
              <a:t>) </a:t>
            </a:r>
            <a:r>
              <a:rPr lang="en-US" altLang="en-US" sz="2000" dirty="0" err="1">
                <a:ea typeface="+mn-ea"/>
              </a:rPr>
              <a:t>utilizând</a:t>
            </a:r>
            <a:r>
              <a:rPr lang="en-US" altLang="en-US" sz="2000" dirty="0">
                <a:ea typeface="+mn-ea"/>
              </a:rPr>
              <a:t> CNN pre-</a:t>
            </a:r>
            <a:r>
              <a:rPr lang="en-US" altLang="en-US" sz="2000" dirty="0" err="1">
                <a:ea typeface="+mn-ea"/>
              </a:rPr>
              <a:t>antrenate</a:t>
            </a:r>
            <a:r>
              <a:rPr lang="en-US" altLang="en-US" sz="2000" dirty="0">
                <a:ea typeface="+mn-ea"/>
              </a:rPr>
              <a:t> </a:t>
            </a:r>
            <a:r>
              <a:rPr lang="en-US" altLang="en-US" sz="2000" dirty="0" err="1">
                <a:ea typeface="+mn-ea"/>
              </a:rPr>
              <a:t>și</a:t>
            </a:r>
            <a:r>
              <a:rPr lang="en-US" altLang="en-US" sz="2000" dirty="0">
                <a:ea typeface="+mn-ea"/>
              </a:rPr>
              <a:t> SVM.</a:t>
            </a:r>
            <a:endParaRPr lang="en-US" altLang="en-US" sz="2000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6ECDE-713C-A2BE-06E9-C913709B5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DE104E1-E446-B868-DBAB-DE7D43EA72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1. </a:t>
            </a:r>
            <a:r>
              <a:rPr lang="en-US" altLang="en-US" dirty="0" err="1"/>
              <a:t>Definirea</a:t>
            </a:r>
            <a:r>
              <a:rPr lang="en-US" altLang="en-US" dirty="0"/>
              <a:t> </a:t>
            </a:r>
            <a:r>
              <a:rPr lang="en-US" altLang="en-US" dirty="0" err="1"/>
              <a:t>problemei</a:t>
            </a:r>
            <a:endParaRPr lang="ru-RU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67A9A91-DDF1-07E1-C5D9-E961E4EDA8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6856" y="1986117"/>
            <a:ext cx="8650288" cy="5462639"/>
          </a:xfrm>
        </p:spPr>
        <p:txBody>
          <a:bodyPr/>
          <a:lstStyle/>
          <a:p>
            <a:pPr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implica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rezolvarea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1: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Filtrarea vocilor zgomotoase printr-un lanț de prelucrare:</a:t>
            </a:r>
          </a:p>
          <a:p>
            <a:pPr marL="457200" lvl="1" indent="0" eaLnBrk="1" hangingPunct="1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Filtru FIR trece-jos • Denoising Wavelet cu atenuare Wiener</a:t>
            </a:r>
          </a:p>
          <a:p>
            <a:pPr marL="457200" lvl="1" indent="0" eaLnBrk="1" hangingPunct="1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Reconstrucție cu Wavelet Packet Denoising</a:t>
            </a:r>
          </a:p>
          <a:p>
            <a:pPr marL="457200" lvl="1" indent="0" eaLnBrk="1" hangingPunct="1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🔸 Scop: obținerea versiunilor filtrate ale vocilor afectate de zgomot</a:t>
            </a:r>
            <a:endParaRPr lang="pt-B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2: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Conversia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fișierelor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spectrograme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bidimensionale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          🔹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Clasificarea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realizează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pre-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antrenate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(ResNet-50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SqueezeNet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457200" lvl="1" indent="0" eaLnBrk="1" hangingPunct="1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🔸 Scop: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vocile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curate cu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filtrate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3: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Extracția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coeficienților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MFCC din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semnalele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urmată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SVM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Weka.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🔸 Scop: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această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abordare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servește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paralelă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evaluarea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performanței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filtrării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1" hangingPunct="1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🔹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Evaluarea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filtrării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indirectă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diferite metrici și compararea rezultatelor CNN cu rezultatele obținute în urma clasificării făcute cu SVM.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887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1C1DBA0-2CCD-295C-B4F4-A46DE37E0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2. Suport teoretic si implementare –schema bloc</a:t>
            </a:r>
            <a:endParaRPr lang="ru-RU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3A67C9C-04D0-5A38-6A73-CC1873587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4535487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Schema bloc de </a:t>
            </a:r>
            <a:r>
              <a:rPr lang="en-US" altLang="en-US" sz="2000" dirty="0" err="1"/>
              <a:t>procesare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particularitati</a:t>
            </a:r>
            <a:r>
              <a:rPr lang="en-US" altLang="en-US" sz="2000" dirty="0"/>
              <a:t> </a:t>
            </a:r>
            <a:endParaRPr lang="en-US" altLang="en-US" sz="2000" dirty="0">
              <a:ea typeface="Tahoma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>
              <a:highlight>
                <a:srgbClr val="FFFF00"/>
              </a:highlight>
              <a:ea typeface="Tahoma"/>
            </a:endParaRPr>
          </a:p>
        </p:txBody>
      </p:sp>
      <p:pic>
        <p:nvPicPr>
          <p:cNvPr id="3" name="Imagine 2" descr="O imagine care conține text, diagramă, linie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CCC051F2-A6F7-539C-75AE-DCC740013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2" y="2576051"/>
            <a:ext cx="9045677" cy="4067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45F74-9C72-9B4D-1B05-3CCC1F390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E19A69B-231F-09C9-3269-7BF4D7A65E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 </a:t>
            </a:r>
            <a:r>
              <a:rPr lang="en-US" altLang="en-US" dirty="0" err="1"/>
              <a:t>Suport</a:t>
            </a:r>
            <a:r>
              <a:rPr lang="en-US" altLang="en-US" dirty="0"/>
              <a:t> </a:t>
            </a:r>
            <a:r>
              <a:rPr lang="en-US" altLang="en-US" dirty="0" err="1"/>
              <a:t>teoretic</a:t>
            </a:r>
            <a:r>
              <a:rPr lang="en-US" altLang="en-US" dirty="0"/>
              <a:t> </a:t>
            </a:r>
            <a:r>
              <a:rPr lang="en-US" altLang="en-US" dirty="0" err="1"/>
              <a:t>si</a:t>
            </a:r>
            <a:r>
              <a:rPr lang="en-US" altLang="en-US" dirty="0"/>
              <a:t> </a:t>
            </a:r>
            <a:r>
              <a:rPr lang="en-US" altLang="en-US" dirty="0" err="1"/>
              <a:t>implementare</a:t>
            </a:r>
            <a:r>
              <a:rPr lang="en-US" altLang="en-US" dirty="0"/>
              <a:t> –schema bloc</a:t>
            </a:r>
            <a:endParaRPr lang="ru-RU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003BC9B-0E8F-934E-E4A1-E0E2F284DB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2592" y="1422400"/>
            <a:ext cx="8650288" cy="5897255"/>
          </a:xfrm>
        </p:spPr>
        <p:txBody>
          <a:bodyPr/>
          <a:lstStyle/>
          <a:p>
            <a:pPr eaLnBrk="1" hangingPunct="1"/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bloc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prezintă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fluxul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principal al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procesării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semnalelor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vocale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stânga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fișierele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originale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peste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se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adaugă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genera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zgomotoase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Urmează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filtrare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etape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filtru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FIR, denoising Wavelet cu Wiener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reconstrucție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Wavelet Packet, care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zgomotul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păstrează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vocea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Semnalele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originale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zgomotoase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filtrate sunt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transformate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spectrograme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pre-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antrenate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ResNet-50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SqueezeNet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clasificarea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comparare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curat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filtrat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respectiv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evaluarea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filtrării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Separat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comparație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paralelă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din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aceleași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extrase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coeficienții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MFCC, care sunt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folosiți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trăsături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intrare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clasificator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SVM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Weka,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distingerea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curat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zgomotos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filtrat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o-R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lângă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calculează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metrici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(SNR, SLR, SDR,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similaritate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cosinus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eficiența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filtrării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Schema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oferă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imagine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clară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modului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prelucrate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obține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precise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62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AE1F585-88DF-1A0D-1BC4-066DD01A63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51" y="0"/>
            <a:ext cx="7793037" cy="1702977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2.1. Componenta 1 </a:t>
            </a:r>
            <a:r>
              <a:rPr lang="en-GB" sz="4000" dirty="0"/>
              <a:t>– </a:t>
            </a:r>
            <a:r>
              <a:rPr lang="en-GB" sz="4000" dirty="0" err="1"/>
              <a:t>Generarea</a:t>
            </a:r>
            <a:r>
              <a:rPr lang="en-GB" sz="4000" dirty="0"/>
              <a:t> </a:t>
            </a:r>
            <a:r>
              <a:rPr lang="en-GB" sz="4000" dirty="0" err="1"/>
              <a:t>zgomotului</a:t>
            </a:r>
            <a:r>
              <a:rPr lang="ro-RO" sz="4000" dirty="0"/>
              <a:t>/ vocii zgomotoase </a:t>
            </a:r>
            <a:endParaRPr lang="ru-RU" altLang="en-US" sz="4000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A8C986A-C237-F101-EADF-BE151D9B6E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2787" y="2017713"/>
            <a:ext cx="8650288" cy="4535487"/>
          </a:xfrm>
        </p:spPr>
        <p:txBody>
          <a:bodyPr/>
          <a:lstStyle/>
          <a:p>
            <a:pPr eaLnBrk="1" hangingPunct="1"/>
            <a:r>
              <a:rPr lang="en-US" altLang="en-US" sz="1800" dirty="0" err="1"/>
              <a:t>Suport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teretic</a:t>
            </a:r>
            <a:r>
              <a:rPr lang="en-US" altLang="en-US" sz="1800" dirty="0"/>
              <a:t> cu </a:t>
            </a:r>
            <a:r>
              <a:rPr lang="en-US" altLang="en-US" sz="1800" dirty="0" err="1"/>
              <a:t>relatii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matematice</a:t>
            </a:r>
            <a:r>
              <a:rPr lang="en-US" altLang="en-US" sz="1800" dirty="0"/>
              <a:t>:</a:t>
            </a:r>
          </a:p>
          <a:p>
            <a:pPr marL="0" indent="0" eaLnBrk="1" hangingPunct="1">
              <a:buNone/>
            </a:pPr>
            <a:endParaRPr lang="en-US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tăText 5">
                <a:extLst>
                  <a:ext uri="{FF2B5EF4-FFF2-40B4-BE49-F238E27FC236}">
                    <a16:creationId xmlns:a16="http://schemas.microsoft.com/office/drawing/2014/main" id="{131682C8-A219-282F-C2F0-0765B4D896DE}"/>
                  </a:ext>
                </a:extLst>
              </p:cNvPr>
              <p:cNvSpPr txBox="1"/>
              <p:nvPr/>
            </p:nvSpPr>
            <p:spPr>
              <a:xfrm>
                <a:off x="70925" y="2418002"/>
                <a:ext cx="9073075" cy="4439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Calculul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puterii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semnalului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o-RO" i="1" dirty="0"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𝑥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</m:t>
                    </m:r>
                    <m:f>
                      <m:f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naryPr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𝑛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𝑁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−1</m:t>
                        </m:r>
                      </m:sup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𝑥</m:t>
                        </m:r>
                        <m:sSup>
                          <m:sSup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GB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𝑛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ro-RO" i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Calculul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puterii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zgomotului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baza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SNR-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ului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dorit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b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10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𝑆𝑁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𝑑𝐵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10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br>
                  <a:rPr lang="ro-RO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</a:br>
                <a:r>
                  <a:rPr lang="ro-RO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3.</a:t>
                </a:r>
                <a:r>
                  <a:rPr lang="it-IT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Normalizarea zgomotului la puterea dorită:</a:t>
                </a: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𝑛</m:t>
                              </m:r>
                            </m:sub>
                          </m:sSub>
                        </m:e>
                      </m:rad>
                      <m:r>
                        <a:rPr lang="en-US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⋅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𝑛</m:t>
                              </m:r>
                            </m:e>
                          </m:d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ro-RO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</a:br>
                <a:r>
                  <a:rPr lang="ro-RO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4.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Semnalul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zgomotos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obținut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adunarea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zgomotului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normalizat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</a:t>
                </a:r>
                <a:r>
                  <a:rPr lang="en-GB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semnalul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original:</a:t>
                </a:r>
                <a:endParaRPr lang="ro-RO" i="1" dirty="0">
                  <a:effectLst/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ro-RO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:r>
                  <a:rPr lang="ro-RO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</a:t>
                </a: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Normalizarea finală a semnalului zgomotos pentru a rămâne în intervalul [-1, 1]:</a:t>
                </a:r>
                <a:endParaRPr lang="ro-RO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norm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𝑛</m:t>
                              </m:r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GB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effectLst/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GB" i="1">
                                              <a:effectLst/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effectLst/>
                                              <a:latin typeface="Cambria Math" panose="02040503050406030204" pitchFamily="18" charset="0"/>
                                              <a:ea typeface="SimSun" panose="02010600030101010101" pitchFamily="2" charset="-122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CasetăText 5">
                <a:extLst>
                  <a:ext uri="{FF2B5EF4-FFF2-40B4-BE49-F238E27FC236}">
                    <a16:creationId xmlns:a16="http://schemas.microsoft.com/office/drawing/2014/main" id="{131682C8-A219-282F-C2F0-0765B4D89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5" y="2418002"/>
                <a:ext cx="9073075" cy="4439998"/>
              </a:xfrm>
              <a:prstGeom prst="rect">
                <a:avLst/>
              </a:prstGeom>
              <a:blipFill>
                <a:blip r:embed="rId3"/>
                <a:stretch>
                  <a:fillRect l="-605" t="-86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816F2-6175-8DC2-D424-76352EB4D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3A9F06B-F1F7-E7A9-6B60-771F49A56F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51" y="0"/>
            <a:ext cx="7793037" cy="1702977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2.1. Componenta 1 </a:t>
            </a:r>
            <a:r>
              <a:rPr lang="en-GB" sz="4000" dirty="0"/>
              <a:t>– </a:t>
            </a:r>
            <a:r>
              <a:rPr lang="en-GB" sz="4000" dirty="0" err="1"/>
              <a:t>Generarea</a:t>
            </a:r>
            <a:r>
              <a:rPr lang="en-GB" sz="4000" dirty="0"/>
              <a:t> </a:t>
            </a:r>
            <a:r>
              <a:rPr lang="en-GB" sz="4000" dirty="0" err="1"/>
              <a:t>zgomotului</a:t>
            </a:r>
            <a:r>
              <a:rPr lang="ro-RO" sz="4000" dirty="0"/>
              <a:t>/ vocii zgomotoase </a:t>
            </a:r>
            <a:endParaRPr lang="ru-RU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0716D91C-1984-FB05-5152-717EE398C7B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46856" y="1948887"/>
                <a:ext cx="8650288" cy="4840287"/>
              </a:xfrm>
            </p:spPr>
            <p:txBody>
              <a:bodyPr/>
              <a:lstStyle/>
              <a:p>
                <a:pPr eaLnBrk="1" hangingPunct="1"/>
                <a:r>
                  <a:rPr lang="ro-RO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Legendă simboluri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d>
                      <m:r>
                        <a:rPr lang="ro-RO" sz="1600" b="0" i="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 −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semnalul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original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la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pasul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𝑛</m:t>
                      </m:r>
                    </m:oMath>
                  </m:oMathPara>
                </a14:m>
                <a:endParaRPr lang="en-GB" sz="16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𝑁</m:t>
                      </m:r>
                      <m:r>
                        <a:rPr lang="ro-RO" sz="1600" b="0" i="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 −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num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ă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rul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total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de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ș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antioane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din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semnal</m:t>
                      </m:r>
                    </m:oMath>
                  </m:oMathPara>
                </a14:m>
                <a:endParaRPr lang="en-GB" sz="16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𝑥</m:t>
                          </m:r>
                        </m:sub>
                      </m:sSub>
                      <m:r>
                        <a:rPr lang="ro-RO" sz="1600" b="0" i="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puterea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semnalului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original</m:t>
                      </m:r>
                    </m:oMath>
                  </m:oMathPara>
                </a14:m>
                <a:endParaRPr lang="en-GB" sz="16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𝑆𝑁</m:t>
                      </m:r>
                      <m:sSub>
                        <m:sSubPr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𝑑𝐵</m:t>
                          </m:r>
                        </m:sub>
                      </m:sSub>
                      <m:r>
                        <a:rPr lang="ro-RO" sz="1600" b="0" i="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raportul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semnal</m:t>
                      </m:r>
                      <m:r>
                        <m:rPr>
                          <m:nor/>
                        </m:rPr>
                        <a:rPr lang="en-US" sz="1600" i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zgomot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exprimat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î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decibeli</m:t>
                      </m:r>
                    </m:oMath>
                  </m:oMathPara>
                </a14:m>
                <a:endParaRPr lang="en-GB" sz="16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ro-RO" sz="1600" b="0" i="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puterea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zgomotului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calculat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ă î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func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ț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ie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de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SNR</m:t>
                      </m:r>
                    </m:oMath>
                  </m:oMathPara>
                </a14:m>
                <a:endParaRPr lang="en-GB" sz="16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𝑛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d>
                      <m:r>
                        <a:rPr lang="ro-RO" sz="1600" b="0" i="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zgomotul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original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semnal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real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μ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mean</m:t>
                      </m:r>
                      <m:d>
                        <m:dPr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d>
                      <m:r>
                        <a:rPr lang="ro-RO" sz="1600" b="0" i="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media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zgomotului</m:t>
                      </m:r>
                    </m:oMath>
                  </m:oMathPara>
                </a14:m>
                <a:endParaRPr lang="en-GB" sz="16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σ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std</m:t>
                      </m:r>
                      <m:d>
                        <m:dPr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d>
                      <m:r>
                        <a:rPr lang="ro-RO" sz="1600" b="0" i="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devia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ț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ia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standard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zgomotului</m:t>
                      </m:r>
                    </m:oMath>
                  </m:oMathPara>
                </a14:m>
                <a:endParaRPr lang="en-GB" sz="16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acc>
                      <m:d>
                        <m:dPr>
                          <m:begChr m:val="["/>
                          <m:endChr m:val="]"/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d>
                      <m:r>
                        <a:rPr lang="ro-RO" sz="1600" b="0" i="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zgomotul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normalizat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la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puterea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sz="16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d>
                      <m:r>
                        <a:rPr lang="ro-RO" sz="1600" b="0" i="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semnalul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zgomotos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rezultat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dup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ă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ad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ă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ugarea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zgomotului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normalizat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la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semnalul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original</m:t>
                      </m:r>
                      <m:r>
                        <a:rPr lang="ro-RO" sz="1600" b="0" i="1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                       </m:t>
                      </m:r>
                    </m:oMath>
                  </m:oMathPara>
                </a14:m>
                <a:endParaRPr lang="ro-RO" sz="1600" b="0" i="1" dirty="0">
                  <a:effectLst/>
                  <a:latin typeface="Cambria Math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smtClean="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effectLst/>
                              <a:latin typeface="Times New Roman" panose="020206030504050203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norm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𝑛</m:t>
                          </m:r>
                        </m:e>
                      </m:d>
                      <m:r>
                        <a:rPr lang="ro-RO" sz="1600" b="0" i="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semnalul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zgomotos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normalizat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astfel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î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nc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â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amplitudinea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ă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fie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î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intervalul</m:t>
                      </m:r>
                      <m:r>
                        <m:rPr>
                          <m:nor/>
                        </m:rPr>
                        <a:rPr lang="en-US" sz="16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−1,1</m:t>
                          </m:r>
                        </m:e>
                      </m:d>
                    </m:oMath>
                  </m:oMathPara>
                </a14:m>
                <a:endParaRPr lang="en-GB" sz="16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400"/>
                  </a:spcBef>
                  <a:spcAft>
                    <a:spcPts val="1000"/>
                  </a:spcAft>
                  <a:buNone/>
                  <a:tabLst>
                    <a:tab pos="33845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  <a:ea typeface="SimSu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ro-RO" sz="16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valoarea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absolut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ă 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maxim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ă 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semnalului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zgomotos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folosit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ă 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pentru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normalizare</m:t>
                      </m:r>
                    </m:oMath>
                  </m:oMathPara>
                </a14:m>
                <a:endParaRPr lang="en-GB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1800" dirty="0"/>
              </a:p>
              <a:p>
                <a:pPr marL="0" indent="0" eaLnBrk="1" hangingPunct="1">
                  <a:buNone/>
                </a:pPr>
                <a:endParaRPr lang="en-US" altLang="en-US" sz="2200" dirty="0"/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0716D91C-1984-FB05-5152-717EE398C7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6856" y="1948887"/>
                <a:ext cx="8650288" cy="4840287"/>
              </a:xfrm>
              <a:blipFill>
                <a:blip r:embed="rId3"/>
                <a:stretch>
                  <a:fillRect t="-378" b="-1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29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E818-3841-4DB8-BBA3-4601DDD66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931B860-CD2C-8022-48E7-895497071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2.1. Componenta 1 </a:t>
            </a:r>
            <a:r>
              <a:rPr lang="en-GB" sz="4000" dirty="0"/>
              <a:t>– </a:t>
            </a:r>
            <a:r>
              <a:rPr lang="en-GB" sz="4000" dirty="0" err="1"/>
              <a:t>Generarea</a:t>
            </a:r>
            <a:r>
              <a:rPr lang="en-GB" sz="4000" dirty="0"/>
              <a:t> </a:t>
            </a:r>
            <a:r>
              <a:rPr lang="en-GB" sz="4000" dirty="0" err="1"/>
              <a:t>zgomotului</a:t>
            </a:r>
            <a:r>
              <a:rPr lang="ro-RO" sz="4000" dirty="0"/>
              <a:t>/ vocii zgomotoase </a:t>
            </a:r>
            <a:endParaRPr lang="ru-RU" altLang="en-US" sz="4000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D8659C3-8E3C-04BC-7475-22F0C9C64D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3458" y="2194694"/>
            <a:ext cx="8650288" cy="4535487"/>
          </a:xfrm>
        </p:spPr>
        <p:txBody>
          <a:bodyPr/>
          <a:lstStyle/>
          <a:p>
            <a:pPr eaLnBrk="1" hangingPunct="1"/>
            <a:r>
              <a:rPr lang="en-US" altLang="en-US" sz="1800" dirty="0" err="1"/>
              <a:t>Ilustrare</a:t>
            </a:r>
            <a:r>
              <a:rPr lang="en-US" altLang="en-US" sz="1800" dirty="0"/>
              <a:t> cu </a:t>
            </a:r>
            <a:r>
              <a:rPr lang="en-US" altLang="en-US" sz="1800" dirty="0" err="1"/>
              <a:t>grafice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capturi</a:t>
            </a:r>
            <a:r>
              <a:rPr lang="en-US" altLang="en-US" sz="1800" dirty="0"/>
              <a:t> de </a:t>
            </a:r>
            <a:r>
              <a:rPr lang="en-US" altLang="en-US" sz="1800" dirty="0" err="1"/>
              <a:t>ecran</a:t>
            </a:r>
            <a:r>
              <a:rPr lang="en-US" altLang="en-US" sz="1800" dirty="0"/>
              <a:t>, care </a:t>
            </a:r>
            <a:r>
              <a:rPr lang="en-US" altLang="en-US" sz="1800" dirty="0" err="1"/>
              <a:t>ilustreaza</a:t>
            </a:r>
            <a:r>
              <a:rPr lang="en-US" altLang="en-US" sz="1800" dirty="0"/>
              <a:t> in mod didactic </a:t>
            </a:r>
            <a:r>
              <a:rPr lang="en-US" altLang="en-US" sz="1800" dirty="0" err="1"/>
              <a:t>aceasta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componenta</a:t>
            </a:r>
            <a:r>
              <a:rPr lang="en-US" altLang="en-US" sz="1800" dirty="0"/>
              <a:t>:</a:t>
            </a:r>
            <a:br>
              <a:rPr lang="ro-RO" altLang="en-US" sz="1800" dirty="0"/>
            </a:br>
            <a:br>
              <a:rPr lang="ro-RO" altLang="en-US" sz="1800" dirty="0"/>
            </a:br>
            <a:br>
              <a:rPr lang="ro-RO" altLang="en-US" sz="1800" dirty="0"/>
            </a:br>
            <a:br>
              <a:rPr lang="ro-RO" altLang="en-US" sz="1800" dirty="0"/>
            </a:br>
            <a:br>
              <a:rPr lang="ro-RO" altLang="en-US" sz="1800" dirty="0"/>
            </a:br>
            <a:br>
              <a:rPr lang="ro-RO" altLang="en-US" sz="1800" dirty="0"/>
            </a:br>
            <a:br>
              <a:rPr lang="ro-RO" altLang="en-US" sz="1800" dirty="0"/>
            </a:br>
            <a:endParaRPr lang="en-US" altLang="en-US" sz="1800" dirty="0"/>
          </a:p>
          <a:p>
            <a:pPr eaLnBrk="1" hangingPunct="1"/>
            <a:r>
              <a:rPr lang="en-US" altLang="en-US" sz="1800" dirty="0"/>
              <a:t>Se </a:t>
            </a:r>
            <a:r>
              <a:rPr lang="en-US" altLang="en-US" sz="1800" dirty="0" err="1"/>
              <a:t>poate</a:t>
            </a:r>
            <a:r>
              <a:rPr lang="en-US" altLang="en-US" sz="1800" dirty="0"/>
              <a:t> </a:t>
            </a:r>
            <a:r>
              <a:rPr lang="en-US" altLang="en-US" sz="1800" dirty="0" err="1"/>
              <a:t>observa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că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după</a:t>
            </a:r>
            <a:r>
              <a:rPr lang="en-US" altLang="en-US" sz="1800" dirty="0"/>
              <a:t> </a:t>
            </a:r>
            <a:r>
              <a:rPr lang="en-US" altLang="en-US" sz="1800" dirty="0" err="1"/>
              <a:t>aplicarea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zgomotului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peste</a:t>
            </a:r>
            <a:r>
              <a:rPr lang="en-US" altLang="en-US" sz="1800" dirty="0"/>
              <a:t> </a:t>
            </a:r>
            <a:r>
              <a:rPr lang="en-US" altLang="en-US" sz="1800" dirty="0" err="1"/>
              <a:t>înregistrare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semnalul</a:t>
            </a:r>
            <a:r>
              <a:rPr lang="en-US" altLang="en-US" sz="1800" dirty="0"/>
              <a:t> </a:t>
            </a:r>
            <a:r>
              <a:rPr lang="en-US" altLang="en-US" sz="1800" dirty="0" err="1"/>
              <a:t>devine</a:t>
            </a:r>
            <a:r>
              <a:rPr lang="en-US" altLang="en-US" sz="1800" dirty="0"/>
              <a:t> </a:t>
            </a:r>
            <a:r>
              <a:rPr lang="en-US" altLang="en-US" sz="1800" dirty="0" err="1"/>
              <a:t>mult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mai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perturbat</a:t>
            </a:r>
            <a:r>
              <a:rPr lang="en-US" altLang="en-US" sz="1800" dirty="0"/>
              <a:t>, cu </a:t>
            </a:r>
            <a:r>
              <a:rPr lang="en-US" altLang="en-US" sz="1800" dirty="0" err="1"/>
              <a:t>variații</a:t>
            </a:r>
            <a:r>
              <a:rPr lang="en-US" altLang="en-US" sz="1800" dirty="0"/>
              <a:t> de </a:t>
            </a:r>
            <a:r>
              <a:rPr lang="en-US" altLang="en-US" sz="1800" dirty="0" err="1"/>
              <a:t>amplitudine</a:t>
            </a:r>
            <a:r>
              <a:rPr lang="en-US" altLang="en-US" sz="1800" dirty="0"/>
              <a:t> </a:t>
            </a:r>
            <a:r>
              <a:rPr lang="en-US" altLang="en-US" sz="1800" dirty="0" err="1"/>
              <a:t>semnificative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ce</a:t>
            </a:r>
            <a:r>
              <a:rPr lang="en-US" altLang="en-US" sz="1800" dirty="0"/>
              <a:t> </a:t>
            </a:r>
            <a:r>
              <a:rPr lang="en-US" altLang="en-US" sz="1800" dirty="0" err="1"/>
              <a:t>indică</a:t>
            </a:r>
            <a:r>
              <a:rPr lang="en-US" altLang="en-US" sz="1800" dirty="0"/>
              <a:t> </a:t>
            </a:r>
            <a:r>
              <a:rPr lang="en-US" altLang="en-US" sz="1800" dirty="0" err="1"/>
              <a:t>prezența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interferențelor</a:t>
            </a:r>
            <a:r>
              <a:rPr lang="en-US" altLang="en-US" sz="1800" dirty="0"/>
              <a:t> </a:t>
            </a:r>
            <a:r>
              <a:rPr lang="en-US" altLang="en-US" sz="1800" dirty="0" err="1"/>
              <a:t>și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zgomotelor</a:t>
            </a:r>
            <a:r>
              <a:rPr lang="en-US" altLang="en-US" sz="1800" dirty="0"/>
              <a:t> </a:t>
            </a:r>
            <a:r>
              <a:rPr lang="en-US" altLang="en-US" sz="1800" dirty="0" err="1"/>
              <a:t>suplimentare</a:t>
            </a:r>
            <a:r>
              <a:rPr lang="en-US" altLang="en-US" sz="1800" dirty="0"/>
              <a:t>.</a:t>
            </a:r>
            <a:br>
              <a:rPr lang="en-US" altLang="en-US" sz="1800" dirty="0"/>
            </a:br>
            <a:br>
              <a:rPr lang="en-US" altLang="en-US" sz="1800" dirty="0"/>
            </a:br>
            <a:br>
              <a:rPr lang="en-US" altLang="en-US" sz="1800" dirty="0"/>
            </a:br>
            <a:br>
              <a:rPr lang="en-US" altLang="en-US" sz="1800" dirty="0"/>
            </a:br>
            <a:br>
              <a:rPr lang="en-US" altLang="en-US" sz="1800" dirty="0"/>
            </a:br>
            <a:br>
              <a:rPr lang="en-US" altLang="en-US" sz="1800" dirty="0"/>
            </a:br>
            <a:endParaRPr lang="en-US" altLang="en-US" sz="1800" dirty="0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5F76E258-4753-BA01-9565-7924F840C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8876"/>
            <a:ext cx="9144000" cy="179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25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98F0E-B5BC-2E32-D1A6-B350F3E3F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61F9B96-F774-A41B-B115-B97CD6E3B4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2</a:t>
            </a:r>
            <a:r>
              <a:rPr lang="en-US" altLang="en-US" dirty="0"/>
              <a:t>. Componenta </a:t>
            </a:r>
            <a:r>
              <a:rPr lang="ro-RO" altLang="en-US" dirty="0"/>
              <a:t>2</a:t>
            </a:r>
            <a:r>
              <a:rPr lang="en-US" altLang="en-US" dirty="0"/>
              <a:t> </a:t>
            </a:r>
            <a:r>
              <a:rPr lang="en-GB" dirty="0"/>
              <a:t>– </a:t>
            </a:r>
            <a:r>
              <a:rPr lang="en-GB" dirty="0" err="1"/>
              <a:t>Filtru</a:t>
            </a:r>
            <a:r>
              <a:rPr lang="en-GB" dirty="0"/>
              <a:t> FIR Trece-Jos</a:t>
            </a:r>
            <a:endParaRPr lang="ru-RU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91B27788-372A-2775-0FFA-68831DF9474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2017713"/>
                <a:ext cx="8650288" cy="4535487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1800" dirty="0"/>
                  <a:t>Suport </a:t>
                </a:r>
                <a:r>
                  <a:rPr lang="en-US" altLang="en-US" sz="1800" dirty="0" err="1"/>
                  <a:t>teretic</a:t>
                </a:r>
                <a:r>
                  <a:rPr lang="en-US" altLang="en-US" sz="1800" dirty="0"/>
                  <a:t> cu </a:t>
                </a:r>
                <a:r>
                  <a:rPr lang="en-US" altLang="en-US" sz="1800" dirty="0" err="1"/>
                  <a:t>relatii</a:t>
                </a:r>
                <a:r>
                  <a:rPr lang="en-US" altLang="en-US" sz="1800" dirty="0"/>
                  <a:t> </a:t>
                </a:r>
                <a:r>
                  <a:rPr lang="en-US" altLang="en-US" sz="1800" dirty="0" err="1"/>
                  <a:t>matematice</a:t>
                </a:r>
                <a:r>
                  <a:rPr lang="en-US" altLang="en-US" sz="1800" dirty="0"/>
                  <a:t>:</a:t>
                </a:r>
              </a:p>
              <a:p>
                <a:pPr eaLnBrk="1" hangingPunct="1"/>
                <a:endParaRPr lang="en-US" altLang="en-US" sz="2200" dirty="0"/>
              </a:p>
              <a:p>
                <a:pPr marL="6350" marR="171450" indent="-6350">
                  <a:lnSpc>
                    <a:spcPct val="103000"/>
                  </a:lnSpc>
                  <a:spcAft>
                    <a:spcPts val="25"/>
                  </a:spcAft>
                </a:pPr>
                <a:r>
                  <a:rPr lang="en-GB" sz="1800" dirty="0" err="1"/>
                  <a:t>Parametrii</a:t>
                </a:r>
                <a:r>
                  <a:rPr lang="en-GB" sz="1800" dirty="0"/>
                  <a:t> </a:t>
                </a:r>
                <a:r>
                  <a:rPr lang="en-GB" sz="1800" dirty="0" err="1"/>
                  <a:t>filtrului</a:t>
                </a:r>
                <a:r>
                  <a:rPr lang="en-GB" sz="1800" dirty="0"/>
                  <a:t> FIR:</a:t>
                </a:r>
                <a14:m>
                  <m:oMath xmlns:m="http://schemas.openxmlformats.org/officeDocument/2006/math">
                    <m:r>
                      <a:rPr lang="en-US" sz="1800" b="0" i="0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𝑏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GB" sz="1800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firpm</m:t>
                    </m:r>
                    <m:d>
                      <m:dPr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𝑁</m:t>
                        </m:r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,</m:t>
                        </m:r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𝑊</m:t>
                        </m:r>
                      </m:e>
                    </m:d>
                  </m:oMath>
                </a14:m>
                <a:br>
                  <a:rPr lang="en-US" sz="1800" i="1" kern="1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𝑏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: 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𝑐𝑜𝑒𝑓𝑖𝑐𝑖𝑒𝑛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ț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𝑖𝑖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𝑓𝑖𝑙𝑡𝑟𝑢𝑙𝑢𝑖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𝐹𝐼𝑅</m:t>
                    </m:r>
                  </m:oMath>
                </a14:m>
                <a:br>
                  <a:rPr lang="en-US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𝑁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: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𝑜𝑟𝑑𝑖𝑛𝑢𝑙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𝑓𝑖𝑙𝑡𝑟𝑢𝑙𝑢𝑖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𝑠𝑎𝑢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𝑑𝑖𝑚𝑒𝑛𝑠𝑖𝑢𝑛𝑒𝑎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𝑓𝑒𝑟𝑒𝑠𝑡𝑟𝑒𝑖</m:t>
                    </m:r>
                  </m:oMath>
                </a14:m>
                <a:br>
                  <a:rPr lang="en-US" sz="18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GB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𝑊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: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𝑝𝑎𝑟𝑎𝑚𝑒𝑡𝑟𝑖𝑖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𝑓𝑖𝑙𝑡𝑟𝑢𝑙𝑢𝑖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𝐹𝐼𝑅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𝑝𝑟𝑜𝑖𝑒𝑐𝑡𝑎𝑡</m:t>
                    </m:r>
                  </m:oMath>
                </a14:m>
                <a:endParaRPr lang="en-GB" sz="1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eaLnBrk="1" hangingPunct="1"/>
                <a:r>
                  <a:rPr lang="pt-BR" sz="1800" dirty="0"/>
                  <a:t>Aplicarea filtrului FIR asupra semnalului</a:t>
                </a:r>
                <a14:m>
                  <m:oMath xmlns:m="http://schemas.openxmlformats.org/officeDocument/2006/math">
                    <m:r>
                      <a:rPr lang="en-US" sz="1800" b="0" i="0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800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1800" i="1" kern="1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800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filt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𝑘</m:t>
                            </m:r>
                          </m:e>
                        </m:d>
                      </m:e>
                    </m:nary>
                    <m:r>
                      <a:rPr lang="en-GB" sz="1800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⋅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unde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800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filt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en-GB" sz="18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semnaul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filtrat</a:t>
                </a:r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eaLnBrk="1" hangingPunct="1"/>
                <a:r>
                  <a:rPr lang="en-GB" sz="1800" dirty="0" err="1"/>
                  <a:t>Semnalul</a:t>
                </a:r>
                <a:r>
                  <a:rPr lang="en-GB" sz="1800" dirty="0"/>
                  <a:t> audio </a:t>
                </a:r>
                <a:r>
                  <a:rPr lang="en-GB" sz="1800" dirty="0" err="1"/>
                  <a:t>este</a:t>
                </a:r>
                <a:r>
                  <a:rPr lang="en-GB" sz="1800" dirty="0"/>
                  <a:t> </a:t>
                </a:r>
                <a:r>
                  <a:rPr lang="en-GB" sz="1800" dirty="0" err="1"/>
                  <a:t>normalizat</a:t>
                </a:r>
                <a:r>
                  <a:rPr lang="en-GB" sz="1800" dirty="0"/>
                  <a:t> </a:t>
                </a:r>
                <a:r>
                  <a:rPr lang="en-GB" sz="1800" dirty="0" err="1"/>
                  <a:t>înainte</a:t>
                </a:r>
                <a:r>
                  <a:rPr lang="en-GB" sz="1800" dirty="0"/>
                  <a:t> de </a:t>
                </a:r>
                <a:r>
                  <a:rPr lang="en-GB" sz="1800" dirty="0" err="1"/>
                  <a:t>filtrare</a:t>
                </a:r>
                <a:r>
                  <a:rPr lang="en-GB" sz="1800" dirty="0"/>
                  <a:t> </a:t>
                </a:r>
                <a:r>
                  <a:rPr lang="en-GB" sz="1800" dirty="0" err="1"/>
                  <a:t>astfel</a:t>
                </a:r>
                <a:r>
                  <a:rPr lang="en-GB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kern="1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800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norm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func>
                          <m:funcPr>
                            <m:ctrlP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800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18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GB" sz="18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8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GB" sz="1800" i="1" kern="1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1800" i="1" kern="10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eaLnBrk="1" hangingPunct="1"/>
                <a:r>
                  <a:rPr lang="pt-BR" sz="1800" dirty="0"/>
                  <a:t>Pentru a evita efectele marginii, semnalul este zero-padding la început cu N=1024 eșantioane: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kern="1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𝑧𝑒𝑟</m:t>
                        </m:r>
                        <m:sSub>
                          <m:sSubPr>
                            <m:ctrlP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𝑝𝑎𝑑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GB" sz="18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8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</m:d>
                          </m:sub>
                        </m:sSub>
                      </m:sub>
                    </m:sSub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0, </m:t>
                            </m:r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𝑑𝑎𝑐</m:t>
                            </m:r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ă </m:t>
                            </m:r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 &lt; </m:t>
                            </m:r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𝑁</m:t>
                            </m:r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;</m:t>
                            </m:r>
                          </m:e>
                          <m:e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GB" sz="18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sz="18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𝑛𝑜𝑟𝑚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GB" sz="18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8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𝑛</m:t>
                                    </m:r>
                                    <m:r>
                                      <a:rPr lang="en-GB" sz="18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 − </m:t>
                                    </m:r>
                                    <m:r>
                                      <a:rPr lang="en-GB" sz="18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𝑑𝑎𝑐</m:t>
                            </m:r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ă </m:t>
                            </m:r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 ≥ </m:t>
                            </m:r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𝑁</m:t>
                            </m:r>
                            <m:r>
                              <a:rPr lang="en-GB" sz="18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200" dirty="0"/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91B27788-372A-2775-0FFA-68831DF947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2017713"/>
                <a:ext cx="8650288" cy="4535487"/>
              </a:xfrm>
              <a:blipFill>
                <a:blip r:embed="rId3"/>
                <a:stretch>
                  <a:fillRect t="-8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2787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41818-C4A3-E9D2-0B22-12D717C11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58A044-9D47-40E8-D7E8-4BDD6EB88E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2</a:t>
            </a:r>
            <a:r>
              <a:rPr lang="en-US" altLang="en-US" dirty="0"/>
              <a:t>. Componenta </a:t>
            </a:r>
            <a:r>
              <a:rPr lang="ro-RO" altLang="en-US" dirty="0"/>
              <a:t>2</a:t>
            </a:r>
            <a:r>
              <a:rPr lang="en-US" altLang="en-US" dirty="0"/>
              <a:t> </a:t>
            </a:r>
            <a:r>
              <a:rPr lang="en-GB" dirty="0"/>
              <a:t>– </a:t>
            </a:r>
            <a:r>
              <a:rPr lang="en-GB" dirty="0" err="1"/>
              <a:t>Filtru</a:t>
            </a:r>
            <a:r>
              <a:rPr lang="en-GB" dirty="0"/>
              <a:t> FIR Trece-Jos</a:t>
            </a:r>
            <a:endParaRPr lang="ru-RU" altLang="en-US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81FAF8-5553-ED0B-8516-B3ECBDDC96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4535487"/>
          </a:xfrm>
        </p:spPr>
        <p:txBody>
          <a:bodyPr/>
          <a:lstStyle/>
          <a:p>
            <a:pPr eaLnBrk="1" hangingPunct="1"/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Ilustrare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grafice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capturi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ecran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care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ilustreaza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mod didactic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aceasta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o-RO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o-RO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o-RO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o-RO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o-RO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o-RO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o-RO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observă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după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aplicarea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filtrului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zgomotul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fost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parțial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fiind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eliminat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mare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începutul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sfârșitul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înregistrării</a:t>
            </a:r>
            <a:b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56A3180B-3734-A063-4062-854633363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07489"/>
            <a:ext cx="9017230" cy="187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09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0D92265-FBBA-123D-BD8C-36555B67C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3</a:t>
            </a:r>
            <a:r>
              <a:rPr lang="en-US" altLang="en-US" dirty="0"/>
              <a:t>. Componenta </a:t>
            </a:r>
            <a:r>
              <a:rPr lang="ro-RO" altLang="en-US" dirty="0"/>
              <a:t>3</a:t>
            </a:r>
            <a:r>
              <a:rPr lang="en-US" altLang="en-US" dirty="0"/>
              <a:t> </a:t>
            </a:r>
            <a:r>
              <a:rPr lang="en-GB" dirty="0"/>
              <a:t>Filtrare Wavelet + Wiener</a:t>
            </a:r>
            <a:endParaRPr lang="ru-RU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Rectangle 3">
                <a:extLst>
                  <a:ext uri="{FF2B5EF4-FFF2-40B4-BE49-F238E27FC236}">
                    <a16:creationId xmlns:a16="http://schemas.microsoft.com/office/drawing/2014/main" id="{E8B2E82A-DEC0-73C2-4391-3612400668F4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2177" y="2108200"/>
                <a:ext cx="8650288" cy="4535487"/>
              </a:xfrm>
            </p:spPr>
            <p:txBody>
              <a:bodyPr/>
              <a:lstStyle/>
              <a:p>
                <a:pPr eaLnBrk="1" hangingPunct="1">
                  <a:buFont typeface="Wingdings" panose="05000000000000000000" pitchFamily="2" charset="2"/>
                  <a:buChar char="q"/>
                </a:pP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Suport </a:t>
                </a:r>
                <a:r>
                  <a:rPr lang="en-US" alt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teretic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 </a:t>
                </a:r>
                <a:r>
                  <a:rPr lang="en-US" alt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relatii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matematice</a:t>
                </a:r>
                <a:r>
                  <a:rPr lang="en-US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Decompoziția</a:t>
                </a:r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Wavelet:</a:t>
                </a:r>
                <a14:m>
                  <m:oMath xmlns:m="http://schemas.openxmlformats.org/officeDocument/2006/math">
                    <m:r>
                      <a:rPr lang="en-GB" sz="220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2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GB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𝑤𝑎𝑣𝑒𝑑𝑒𝑐</m:t>
                    </m:r>
                    <m:r>
                      <a:rPr lang="ro-RO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sz="2200" i="1">
                        <a:latin typeface="Cambria Math" panose="02040503050406030204" pitchFamily="18" charset="0"/>
                      </a:rPr>
                      <m:t>𝑓𝑟𝑎𝑚𝑒</m:t>
                    </m:r>
                    <m:r>
                      <a:rPr lang="ro-RO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2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ro-RO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sz="22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ro-RO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Estimarea</a:t>
                </a:r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varianței</a:t>
                </a:r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zgomotului</a:t>
                </a:r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GB" sz="2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20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200">
                                    <a:latin typeface="Cambria Math" panose="02040503050406030204" pitchFamily="18" charset="0"/>
                                  </a:rPr>
                                  <m:t>𝑚𝑒𝑑𝑖𝑎𝑛</m:t>
                                </m:r>
                                <m:d>
                                  <m:dPr>
                                    <m:ctrlPr>
                                      <a:rPr lang="en-GB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GB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220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r>
                                  <a:rPr lang="en-GB" sz="2200">
                                    <a:latin typeface="Cambria Math" panose="02040503050406030204" pitchFamily="18" charset="0"/>
                                  </a:rPr>
                                  <m:t>0.6745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sz="2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2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Calculul</a:t>
                </a:r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varianței</a:t>
                </a:r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semnalului</a:t>
                </a:r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ro-RO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va</m:t>
                    </m:r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sz="22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22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signal</m:t>
                        </m:r>
                      </m:sub>
                    </m:sSub>
                    <m:r>
                      <a:rPr lang="en-GB" sz="22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2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GB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GB" sz="22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var</m:t>
                            </m:r>
                            <m:d>
                              <m:dPr>
                                <m:ctrlPr>
                                  <a:rPr lang="en-GB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GB" sz="22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coeff</m:t>
                                </m:r>
                              </m:e>
                            </m:d>
                            <m:r>
                              <a:rPr lang="en-GB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2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GB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2200" i="1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Calculul</a:t>
                </a:r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coeficientului</a:t>
                </a:r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câștig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gain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22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va</m:t>
                        </m:r>
                        <m:sSub>
                          <m:sSubPr>
                            <m:ctrlPr>
                              <a:rPr lang="en-GB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GB" sz="22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GB" sz="22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signal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GB" sz="22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va</m:t>
                        </m:r>
                        <m:sSub>
                          <m:sSubPr>
                            <m:ctrlPr>
                              <a:rPr lang="en-GB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GB" sz="22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GB" sz="22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signal</m:t>
                            </m:r>
                          </m:sub>
                        </m:s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GB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endParaRPr lang="en-GB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Aplicarea</a:t>
                </a:r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câștigului</a:t>
                </a:r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pe </a:t>
                </a:r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coeficienți</a:t>
                </a:r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22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filtrat</m:t>
                        </m:r>
                      </m:sub>
                    </m:sSub>
                    <m:r>
                      <a:rPr lang="en-GB" sz="2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GB" sz="2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gain</m:t>
                    </m:r>
                    <m:r>
                      <a:rPr lang="en-GB" sz="220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GB" sz="2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coeff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Reconstrucția</a:t>
                </a:r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semnalului</a:t>
                </a:r>
                <a: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22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reconstructed</m:t>
                        </m:r>
                      </m:sub>
                    </m:sSub>
                    <m:r>
                      <a:rPr lang="en-GB" sz="2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GB" sz="2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waverec</m:t>
                    </m:r>
                    <m:d>
                      <m:d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GB" sz="22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filtrat</m:t>
                            </m:r>
                          </m:sub>
                        </m:s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GB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200" dirty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br>
                  <a:rPr lang="en-GB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GB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br>
                  <a:rPr lang="ro-RO" altLang="en-US" sz="2200" dirty="0"/>
                </a:br>
                <a:endParaRPr lang="en-US" altLang="en-US" sz="2200" dirty="0"/>
              </a:p>
            </p:txBody>
          </p:sp>
        </mc:Choice>
        <mc:Fallback xmlns="">
          <p:sp>
            <p:nvSpPr>
              <p:cNvPr id="7171" name="Rectangle 3">
                <a:extLst>
                  <a:ext uri="{FF2B5EF4-FFF2-40B4-BE49-F238E27FC236}">
                    <a16:creationId xmlns:a16="http://schemas.microsoft.com/office/drawing/2014/main" id="{E8B2E82A-DEC0-73C2-4391-3612400668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2177" y="2108200"/>
                <a:ext cx="8650288" cy="4535487"/>
              </a:xfrm>
              <a:blipFill>
                <a:blip r:embed="rId3"/>
                <a:stretch>
                  <a:fillRect l="-70" t="-9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9AFC1-1D28-E7E2-3808-498C9BB46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B38B38F-ED07-2BCF-8711-245214D74F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3</a:t>
            </a:r>
            <a:r>
              <a:rPr lang="en-US" altLang="en-US" dirty="0"/>
              <a:t>. Componenta </a:t>
            </a:r>
            <a:r>
              <a:rPr lang="ro-RO" altLang="en-US" dirty="0"/>
              <a:t>3</a:t>
            </a:r>
            <a:r>
              <a:rPr lang="en-US" altLang="en-US" dirty="0"/>
              <a:t> </a:t>
            </a:r>
            <a:r>
              <a:rPr lang="en-GB" dirty="0"/>
              <a:t>Filtrare Wavelet + Wiener</a:t>
            </a:r>
            <a:endParaRPr lang="ru-RU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Rectangle 3">
                <a:extLst>
                  <a:ext uri="{FF2B5EF4-FFF2-40B4-BE49-F238E27FC236}">
                    <a16:creationId xmlns:a16="http://schemas.microsoft.com/office/drawing/2014/main" id="{766286A6-6EDC-DF47-40BD-DD50FA1AAC41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93712" y="1896806"/>
                <a:ext cx="8650288" cy="4961194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GB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Reconstrucția </a:t>
                </a:r>
                <a:r>
                  <a:rPr lang="en-GB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semnalului</a:t>
                </a:r>
                <a:r>
                  <a:rPr lang="en-GB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complet</a:t>
                </a:r>
                <a:r>
                  <a:rPr lang="en-GB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(overlap-add):</a:t>
                </a:r>
                <a:br>
                  <a:rPr lang="en-GB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rec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GB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window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GB" sz="18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reconstructed</m:t>
                            </m:r>
                          </m:sub>
                          <m:sup>
                            <m:d>
                              <m:d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GB" sz="18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window</m:t>
                                </m:r>
                              </m:e>
                            </m:d>
                          </m:sup>
                        </m:sSubSup>
                        <m:d>
                          <m:dPr>
                            <m:begChr m:val="["/>
                            <m:endChr m:val="]"/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GB" sz="180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hop</m:t>
                            </m:r>
                            <m:r>
                              <a:rPr lang="en-GB" sz="1800">
                                <a:latin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GB" sz="18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window</m:t>
                                </m:r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1800" dirty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GB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</a:t>
                </a:r>
                <a:r>
                  <a:rPr lang="en-GB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hop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; </m:t>
                    </m:r>
                  </m:oMath>
                </a14:m>
                <a:r>
                  <a:rPr lang="en-GB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Normalizarea</a:t>
                </a:r>
                <a:r>
                  <a:rPr lang="en-GB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semnalului</a:t>
                </a:r>
                <a:r>
                  <a:rPr lang="en-GB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reconstruit</a:t>
                </a:r>
                <a:r>
                  <a:rPr lang="en-GB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rec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Re</m:t>
                        </m:r>
                        <m:d>
                          <m:d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GB" sz="180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rec</m:t>
                                </m:r>
                              </m:sub>
                            </m:sSub>
                          </m:e>
                        </m:d>
                      </m:num>
                      <m:den>
                        <m:func>
                          <m:func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8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GB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en-GB" sz="1800">
                                            <a:latin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rec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sz="18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𝑐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: 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𝑣𝑒𝑐𝑡𝑜𝑟𝑢𝑙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𝑐𝑜𝑒𝑓𝑖𝑐𝑖𝑒𝑛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ț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𝑖𝑙𝑜𝑟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𝑑𝑒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𝑑𝑒𝑠𝑐𝑜𝑚𝑝𝑢𝑛𝑒𝑟𝑒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𝑊𝑎𝑣𝑒𝑙𝑒𝑡</m:t>
                    </m:r>
                  </m:oMath>
                </a14:m>
                <a:endParaRPr lang="en-US" sz="1800" i="1" kern="1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: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𝑣𝑒𝑐𝑡𝑜𝑟𝑢𝑙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𝑙𝑢𝑛𝑔𝑖𝑚𝑖𝑙𝑜𝑟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𝑑𝑒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𝑛𝑖𝑣𝑒𝑙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𝑝𝑒𝑛𝑡𝑟𝑢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𝑑𝑒𝑠𝑐𝑜𝑚𝑝𝑢𝑛𝑒𝑟𝑒𝑎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𝑊𝑎𝑣𝑒𝑙𝑒𝑡</m:t>
                    </m:r>
                  </m:oMath>
                </a14:m>
                <a:endParaRPr lang="en-US" sz="1800" i="1" kern="1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𝑤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: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𝑡𝑖𝑝𝑢𝑙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𝑊𝑎𝑣𝑒𝑙𝑒𝑡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𝑢𝑡𝑖𝑙𝑖𝑧𝑎𝑡</m:t>
                    </m:r>
                    <m:d>
                      <m:dPr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𝑒𝑥</m:t>
                        </m:r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.</m:t>
                        </m:r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𝑑𝑏</m:t>
                        </m:r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4,</m:t>
                        </m:r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𝑐𝑜𝑖𝑓</m:t>
                        </m:r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5</m:t>
                        </m:r>
                      </m:e>
                    </m:d>
                  </m:oMath>
                </a14:m>
                <a:endParaRPr lang="en-US" sz="1800" i="1" kern="1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1800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σ</m:t>
                        </m:r>
                      </m:e>
                      <m:sup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: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𝑒𝑠𝑡𝑖𝑚𝑎𝑟𝑒𝑎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𝑣𝑎𝑟𝑖𝑎𝑛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ț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𝑒𝑖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𝑧𝑔𝑜𝑚𝑜𝑡𝑢𝑙𝑢𝑖</m:t>
                    </m:r>
                  </m:oMath>
                </a14:m>
                <a:endParaRPr lang="en-US" sz="1800" i="1" kern="1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m:t>coeff</m:t>
                    </m:r>
                    <m:r>
                      <m:rPr>
                        <m:nor/>
                      </m:rPr>
                      <a:rPr lang="en-GB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𝑐𝑜𝑒𝑓𝑖𝑐𝑖𝑒𝑛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ț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𝑖𝑖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𝑑𝑒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𝑠𝑒𝑚𝑛𝑎𝑙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𝑙𝑎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𝑢𝑛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𝑝𝑎𝑠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𝑖𝑛𝑡𝑒𝑟𝑚𝑒𝑑𝑖𝑎𝑟</m:t>
                    </m:r>
                  </m:oMath>
                </a14:m>
                <a:endParaRPr lang="en-US" sz="1800" i="1" kern="1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m:t>gain</m:t>
                    </m:r>
                    <m:r>
                      <m:rPr>
                        <m:nor/>
                      </m:rPr>
                      <a:rPr lang="en-GB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𝑐𝑜𝑒𝑓𝑖𝑐𝑖𝑒𝑛𝑡𝑢𝑙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𝑑𝑒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𝑐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âș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𝑡𝑖𝑔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𝑝𝑒𝑛𝑡𝑟𝑢</m:t>
                    </m:r>
                    <m:r>
                      <a:rPr lang="en-US" sz="18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𝑎𝑡𝑒𝑛𝑢𝑎𝑟𝑒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𝑎𝑑𝑎𝑝𝑡𝑖𝑣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ă</m:t>
                    </m:r>
                  </m:oMath>
                </a14:m>
                <a:endParaRPr lang="en-US" sz="1800" i="1" kern="1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800" kern="1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m:t>reconstructed</m:t>
                        </m:r>
                      </m:sub>
                    </m:sSub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: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𝑠𝑒𝑔𝑚𝑒𝑛𝑡𝑢𝑙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𝑟𝑒𝑐𝑜𝑛𝑠𝑡𝑟𝑢𝑖𝑡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𝑠𝑒𝑚𝑛𝑎𝑙𝑢𝑙𝑢𝑖</m:t>
                    </m:r>
                    <m:r>
                      <a:rPr lang="en-US" sz="1800" b="0" i="0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GB" sz="1800" i="1" kern="1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1800" kern="10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m:t>rec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: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𝑠𝑒𝑚𝑛𝑎𝑙𝑢𝑙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𝑓𝑖𝑛𝑎𝑙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𝑟𝑒𝑐𝑜𝑛𝑠𝑡𝑟𝑢𝑖𝑡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𝑙𝑎𝑝𝑎𝑠𝑢𝑙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</m:t>
                    </m:r>
                  </m:oMath>
                </a14:m>
                <a:endParaRPr lang="en-US" sz="1800" i="1" kern="1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m:t>hop</m:t>
                    </m:r>
                    <m:r>
                      <m:rPr>
                        <m:nor/>
                      </m:rPr>
                      <a:rPr lang="en-GB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: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𝑝𝑎𝑠𝑢𝑙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𝑑𝑒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𝑑𝑒𝑝𝑙𝑎𝑠𝑎𝑟𝑒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î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𝑛𝑡𝑟𝑒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𝑓𝑒𝑟𝑒𝑠𝑡𝑟𝑒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𝑠𝑢𝑝𝑟𝑎𝑝𝑢𝑠𝑒</m:t>
                    </m:r>
                  </m:oMath>
                </a14:m>
                <a:endParaRPr lang="en-US" sz="1800" i="1" kern="1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m:t>Re</m:t>
                    </m:r>
                    <m:d>
                      <m:dPr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800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⋅</m:t>
                        </m:r>
                      </m:e>
                    </m:d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: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𝑝𝑎𝑟𝑡𝑒𝑎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𝑟𝑒𝑎𝑙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ă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𝑢𝑛𝑢𝑖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𝑛𝑢𝑚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ă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𝑟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𝑐𝑜𝑚𝑝𝑙𝑒𝑥</m:t>
                    </m:r>
                  </m:oMath>
                </a14:m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br>
                  <a:rPr lang="ro-RO" altLang="en-US" sz="2200" dirty="0"/>
                </a:br>
                <a:endParaRPr lang="en-US" altLang="en-US" sz="2200" dirty="0"/>
              </a:p>
            </p:txBody>
          </p:sp>
        </mc:Choice>
        <mc:Fallback xmlns="">
          <p:sp>
            <p:nvSpPr>
              <p:cNvPr id="7171" name="Rectangle 3">
                <a:extLst>
                  <a:ext uri="{FF2B5EF4-FFF2-40B4-BE49-F238E27FC236}">
                    <a16:creationId xmlns:a16="http://schemas.microsoft.com/office/drawing/2014/main" id="{766286A6-6EDC-DF47-40BD-DD50FA1AAC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712" y="1896806"/>
                <a:ext cx="8650288" cy="4961194"/>
              </a:xfrm>
              <a:blipFill>
                <a:blip r:embed="rId3"/>
                <a:stretch>
                  <a:fillRect l="-634" t="-614" b="-4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0387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CDBA8-D24E-84A7-4377-01FDEA5E4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38F4D05-6027-98B0-ED5A-8DB1CF55A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3</a:t>
            </a:r>
            <a:r>
              <a:rPr lang="en-US" altLang="en-US" dirty="0"/>
              <a:t>. Componenta </a:t>
            </a:r>
            <a:r>
              <a:rPr lang="ro-RO" altLang="en-US" dirty="0"/>
              <a:t>3</a:t>
            </a:r>
            <a:r>
              <a:rPr lang="en-US" altLang="en-US" dirty="0"/>
              <a:t> </a:t>
            </a:r>
            <a:r>
              <a:rPr lang="en-GB" dirty="0"/>
              <a:t>Filtrare Wavelet + Wiener</a:t>
            </a:r>
            <a:endParaRPr lang="ru-RU" altLang="en-US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DB0568A-8719-7D57-85A8-B2DEF7403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8155" y="2017713"/>
            <a:ext cx="8947355" cy="4535487"/>
          </a:xfrm>
        </p:spPr>
        <p:txBody>
          <a:bodyPr/>
          <a:lstStyle/>
          <a:p>
            <a:pPr eaLnBrk="1" hangingPunct="1"/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Ilustrare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capturi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ecran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care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ilustreaza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mod didactic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aceasta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o-RO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o-RO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o-RO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o-RO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ro-RO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după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aplicarea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filtrării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wavelet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combinată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atenuarea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Wiener,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semnalul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prezintă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semnificativă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zgomotului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 de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devine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curată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apropiată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semnalul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original,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evidențiind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eficiența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acestei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denoising.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E4E654AC-EAC8-E579-CCBD-B4934D8B8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38719"/>
            <a:ext cx="9144000" cy="173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801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350D1-CD8B-C6A8-0780-0EAB60E0F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06F707D-5826-04CD-E5E8-9CEB25465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4</a:t>
            </a:r>
            <a:r>
              <a:rPr lang="en-US" altLang="en-US" dirty="0"/>
              <a:t>. Componenta </a:t>
            </a:r>
            <a:r>
              <a:rPr lang="ro-RO" altLang="en-US" dirty="0"/>
              <a:t>4</a:t>
            </a:r>
            <a:r>
              <a:rPr lang="en-US" altLang="en-US" dirty="0"/>
              <a:t> </a:t>
            </a:r>
            <a:r>
              <a:rPr lang="en-GB" dirty="0"/>
              <a:t>Filtrare Wavelet </a:t>
            </a:r>
            <a:r>
              <a:rPr lang="ro-RO" dirty="0" err="1"/>
              <a:t>Packet</a:t>
            </a:r>
            <a:r>
              <a:rPr lang="ro-RO" dirty="0"/>
              <a:t> </a:t>
            </a:r>
            <a:r>
              <a:rPr lang="ro-RO" dirty="0" err="1"/>
              <a:t>Denoising</a:t>
            </a:r>
            <a:endParaRPr lang="ru-RU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Rectangle 3">
                <a:extLst>
                  <a:ext uri="{FF2B5EF4-FFF2-40B4-BE49-F238E27FC236}">
                    <a16:creationId xmlns:a16="http://schemas.microsoft.com/office/drawing/2014/main" id="{BB79DEDA-728E-C1AC-5281-DDA062429B8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93687" y="1995814"/>
                <a:ext cx="8650288" cy="4746195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Suport </a:t>
                </a:r>
                <a:r>
                  <a:rPr lang="en-US" alt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teretic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cu </a:t>
                </a:r>
                <a:r>
                  <a:rPr lang="en-US" alt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relatii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matematice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o-RO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 </a:t>
                </a:r>
                <a:r>
                  <a:rPr lang="ro-RO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langă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relațiile matematice comune de la pasul anterior, mai enumerăm </a:t>
                </a:r>
                <a:r>
                  <a:rPr lang="ro-RO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urmatoarele</a:t>
                </a:r>
                <a:r>
                  <a:rPr lang="ro-RO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ecuații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  <a:endParaRPr lang="ro-RO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GB" sz="20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Estimarea</a:t>
                </a:r>
                <a:r>
                  <a:rPr lang="en-GB" sz="20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20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zgomotului</a:t>
                </a:r>
                <a:r>
                  <a:rPr lang="en-GB" sz="20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20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prin</a:t>
                </a:r>
                <a:r>
                  <a:rPr lang="en-GB" sz="20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20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mediana</a:t>
                </a:r>
                <a:r>
                  <a:rPr lang="en-GB" sz="20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20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coeficienților</a:t>
                </a:r>
                <a:r>
                  <a:rPr lang="en-GB" sz="20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20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detaliu</a:t>
                </a:r>
                <a:r>
                  <a:rPr lang="en-GB" sz="20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  <a:endParaRPr lang="ro-RO" sz="20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𝜎</m:t>
                      </m:r>
                      <m:r>
                        <a:rPr lang="en-GB" sz="20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median</m:t>
                          </m:r>
                          <m:d>
                            <m:dPr>
                              <m:ctrlPr>
                                <a:rPr lang="en-GB" sz="20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20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GB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0.6745</m:t>
                          </m:r>
                        </m:den>
                      </m:f>
                    </m:oMath>
                  </m:oMathPara>
                </a14:m>
                <a:endParaRPr lang="ro-RO" sz="20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eaLnBrk="1" hangingPunct="1"/>
                <a:r>
                  <a:rPr lang="ro-RO" sz="20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20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Calculul </a:t>
                </a:r>
                <a:r>
                  <a:rPr lang="en-GB" sz="20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pragului</a:t>
                </a:r>
                <a:r>
                  <a:rPr lang="en-GB" sz="20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de </a:t>
                </a:r>
                <a:r>
                  <a:rPr lang="en-GB" sz="20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tăiere</a:t>
                </a:r>
                <a:r>
                  <a:rPr lang="en-GB" sz="20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20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în</a:t>
                </a:r>
                <a:r>
                  <a:rPr lang="en-GB" sz="20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denoising Wavelet Packet:</a:t>
                </a:r>
              </a:p>
              <a:p>
                <a:pPr marL="0" marR="171450" indent="0" algn="l">
                  <a:lnSpc>
                    <a:spcPct val="103000"/>
                  </a:lnSpc>
                  <a:spcAft>
                    <a:spcPts val="25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o-RO" sz="2000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GB" sz="20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hr</m:t>
                      </m:r>
                      <m:r>
                        <a:rPr lang="en-GB" sz="20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sz="20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wpbmpen</m:t>
                      </m:r>
                      <m:d>
                        <m:dPr>
                          <m:ctrlPr>
                            <a:rPr lang="en-GB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sz="20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tree</m:t>
                          </m:r>
                          <m:r>
                            <a:rPr lang="en-GB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𝜎</m:t>
                          </m:r>
                          <m:r>
                            <a:rPr lang="en-GB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ro-RO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buFont typeface="Wingdings" panose="05000000000000000000" pitchFamily="2" charset="2"/>
                  <a:buChar char="§"/>
                </a:pPr>
                <a:r>
                  <a:rPr lang="ro-RO" alt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tree</a:t>
                </a:r>
                <a:r>
                  <a:rPr lang="ro-RO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: 𝑎𝑟𝑏𝑜𝑟𝑒𝑙𝑒 𝑊𝑎𝑣𝑒𝑙𝑒𝑡 𝑃𝑎𝑐𝑘𝑒𝑡 𝑝𝑒𝑛𝑡𝑟𝑢 𝑠𝑒𝑚𝑛𝑎𝑙</a:t>
                </a:r>
              </a:p>
              <a:p>
                <a:pPr eaLnBrk="1" hangingPunct="1">
                  <a:buFont typeface="Wingdings" panose="05000000000000000000" pitchFamily="2" charset="2"/>
                  <a:buChar char="§"/>
                </a:pPr>
                <a:r>
                  <a:rPr lang="el-GR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: 𝑝𝑎𝑟𝑎𝑚𝑒𝑡𝑟𝑢 𝑝𝑒𝑛𝑡𝑟𝑢 𝑝𝑟𝑎𝑔𝑢𝑙 𝑑𝑒 𝑡</a:t>
                </a:r>
                <a:r>
                  <a:rPr lang="ro-RO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ă𝑖𝑒𝑟𝑒 î𝑛 𝑑𝑒𝑛𝑜𝑖𝑠𝑖𝑛𝑔</a:t>
                </a:r>
              </a:p>
              <a:p>
                <a:pPr eaLnBrk="1" hangingPunct="1">
                  <a:buFont typeface="Wingdings" panose="05000000000000000000" pitchFamily="2" charset="2"/>
                  <a:buChar char="§"/>
                </a:pPr>
                <a:r>
                  <a:rPr lang="ro-RO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𝜎 : 𝑒𝑠𝑡𝑖𝑚𝑎𝑟𝑒𝑎 𝑑𝑒𝑣𝑖𝑎ț𝑖𝑒𝑖 𝑠𝑡𝑎𝑛𝑑𝑎𝑟𝑑 𝑎 𝑧𝑔𝑜𝑚𝑜𝑡𝑢𝑙𝑢𝑖 î𝑛 𝑠𝑒𝑚𝑛𝑎𝑙</a:t>
                </a:r>
              </a:p>
              <a:p>
                <a:pPr eaLnBrk="1" hangingPunct="1">
                  <a:buFont typeface="Wingdings" panose="05000000000000000000" pitchFamily="2" charset="2"/>
                  <a:buChar char="§"/>
                </a:pPr>
                <a:r>
                  <a:rPr lang="ro-RO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𝑑 : 𝑣𝑒𝑐𝑡𝑜𝑟𝑢𝑙 𝑐𝑜𝑒𝑓𝑖𝑐𝑖𝑒𝑛ț𝑖𝑙𝑜𝑟 𝑑𝑒 𝑡𝑎𝑙𝑖𝑢 𝑑𝑖𝑛 𝑑𝑒𝑠𝑐𝑜𝑚𝑝𝑢𝑛𝑒𝑟𝑒𝑎 𝑊𝑎𝑣𝑒𝑙𝑒𝑡 (𝑛𝑖𝑣𝑒𝑙𝑢𝑙 𝑑𝑒𝑡𝑎𝑙𝑖𝑖𝑙𝑜𝑟)</a:t>
                </a:r>
              </a:p>
              <a:p>
                <a:pPr eaLnBrk="1" hangingPunct="1"/>
                <a:endPara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br>
                  <a:rPr lang="ro-RO" altLang="en-US" sz="2200" dirty="0"/>
                </a:br>
                <a:endParaRPr lang="en-US" altLang="en-US" sz="2200" dirty="0"/>
              </a:p>
            </p:txBody>
          </p:sp>
        </mc:Choice>
        <mc:Fallback xmlns="">
          <p:sp>
            <p:nvSpPr>
              <p:cNvPr id="7171" name="Rectangle 3">
                <a:extLst>
                  <a:ext uri="{FF2B5EF4-FFF2-40B4-BE49-F238E27FC236}">
                    <a16:creationId xmlns:a16="http://schemas.microsoft.com/office/drawing/2014/main" id="{BB79DEDA-728E-C1AC-5281-DDA062429B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93687" y="1995814"/>
                <a:ext cx="8650288" cy="4746195"/>
              </a:xfrm>
              <a:blipFill>
                <a:blip r:embed="rId3"/>
                <a:stretch>
                  <a:fillRect l="-705" t="-6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5818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50687-D746-9C1D-1B2A-477C00158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2E049BD-B243-4977-B22F-7729057E4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4</a:t>
            </a:r>
            <a:r>
              <a:rPr lang="en-US" altLang="en-US" dirty="0"/>
              <a:t>. Componenta </a:t>
            </a:r>
            <a:r>
              <a:rPr lang="ro-RO" altLang="en-US" dirty="0"/>
              <a:t>4</a:t>
            </a:r>
            <a:r>
              <a:rPr lang="en-US" altLang="en-US" dirty="0"/>
              <a:t> </a:t>
            </a:r>
            <a:r>
              <a:rPr lang="en-GB" dirty="0"/>
              <a:t>Filtrare Wavelet </a:t>
            </a:r>
            <a:r>
              <a:rPr lang="ro-RO" dirty="0" err="1"/>
              <a:t>Packet</a:t>
            </a:r>
            <a:r>
              <a:rPr lang="ro-RO" dirty="0"/>
              <a:t> </a:t>
            </a:r>
            <a:r>
              <a:rPr lang="ro-RO" dirty="0" err="1"/>
              <a:t>Denoising</a:t>
            </a:r>
            <a:endParaRPr lang="ru-RU" altLang="en-US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44FD7D9-0A78-7662-8609-D6B0707FE4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8155" y="2017713"/>
            <a:ext cx="8947355" cy="4840287"/>
          </a:xfrm>
        </p:spPr>
        <p:txBody>
          <a:bodyPr/>
          <a:lstStyle/>
          <a:p>
            <a:pPr eaLnBrk="1" hangingPunct="1"/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Ilustrare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capturi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ecran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care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ilustreaza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mod didactic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aceasta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o-RO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o-RO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o-RO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o-RO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ro-RO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ro-RO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după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aplicarea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filtrării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wavelet packet denoising,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semnalul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prezintă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clarificare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suplimentară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zgomotului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comparativ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etapa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anterioară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rezultând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curată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fidelă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semnalului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original.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Această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etapă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finalizează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procesul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denoising,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oferind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calitate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îmbunătățită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semnalului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audio.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505D2421-95CB-830E-9E3E-65B13EF69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" y="2801012"/>
            <a:ext cx="9144000" cy="190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325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F9F3956-670B-BF71-BAA9-9FCED9626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5</a:t>
            </a:r>
            <a:r>
              <a:rPr lang="en-US" altLang="en-US" dirty="0"/>
              <a:t>. Componenta </a:t>
            </a:r>
            <a:r>
              <a:rPr lang="ro-RO" altLang="en-US" dirty="0"/>
              <a:t>5</a:t>
            </a:r>
            <a:r>
              <a:rPr lang="en-US" altLang="en-US" dirty="0"/>
              <a:t>- C</a:t>
            </a:r>
            <a:r>
              <a:rPr lang="it-IT" altLang="en-US" dirty="0"/>
              <a:t>lasificare Automată cu CNN </a:t>
            </a:r>
            <a:endParaRPr lang="ru-RU" altLang="en-US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B89110-5214-BA49-840E-662D1CE9FD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2312" y="1873045"/>
            <a:ext cx="8650288" cy="4535487"/>
          </a:xfrm>
        </p:spPr>
        <p:txBody>
          <a:bodyPr/>
          <a:lstStyle/>
          <a:p>
            <a:pPr eaLnBrk="1" hangingPunct="1"/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Antrenarea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CNN-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urilor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SqueezeNet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ResNet-50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de 4000 de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spectrograme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(2000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vocale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curate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2000 cu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eaLnBrk="1" hangingPunct="1"/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50 de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epoci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optimizator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Adam, learning rate de 10⁻⁴, mini-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loturi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16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imagini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early stopping</a:t>
            </a:r>
            <a:r>
              <a:rPr lang="ro-RO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Testarea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s-a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făcut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2000 de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fișiere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diferite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(1000 curate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1000 filtrate)</a:t>
            </a:r>
            <a:endParaRPr lang="en-US" alt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tăText 4">
                <a:extLst>
                  <a:ext uri="{FF2B5EF4-FFF2-40B4-BE49-F238E27FC236}">
                    <a16:creationId xmlns:a16="http://schemas.microsoft.com/office/drawing/2014/main" id="{F9BC60C1-D3C5-D0C9-E7EE-1D784B771A84}"/>
                  </a:ext>
                </a:extLst>
              </p:cNvPr>
              <p:cNvSpPr txBox="1"/>
              <p:nvPr/>
            </p:nvSpPr>
            <p:spPr>
              <a:xfrm>
                <a:off x="1150938" y="3581436"/>
                <a:ext cx="5953433" cy="3010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350" marR="171450" indent="-6350" algn="just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Formule</a:t>
                </a:r>
                <a:r>
                  <a:rPr lang="en-GB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de </a:t>
                </a:r>
                <a:r>
                  <a:rPr lang="en-GB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evaluare</a:t>
                </a:r>
                <a:r>
                  <a:rPr lang="en-GB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 </a:t>
                </a:r>
                <a:r>
                  <a:rPr lang="en-GB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performanței</a:t>
                </a:r>
                <a:r>
                  <a:rPr lang="en-GB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CNN-</a:t>
                </a:r>
                <a:r>
                  <a:rPr lang="en-GB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ului</a:t>
                </a:r>
                <a:r>
                  <a:rPr lang="en-GB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</a:p>
              <a:p>
                <a:pPr marL="6350" marR="171450" indent="-63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b="1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Precizie</a:t>
                </a:r>
                <a:r>
                  <a:rPr lang="en-GB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b="1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pentru</a:t>
                </a:r>
                <a:r>
                  <a:rPr lang="en-GB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b="1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clasa</a:t>
                </a:r>
                <a:r>
                  <a:rPr lang="en-GB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k:</a:t>
                </a:r>
                <a:endParaRPr lang="en-GB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6350" marR="171450" indent="-63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Precizie</m:t>
                          </m:r>
                        </m:e>
                        <m:sub>
                          <m: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  <m:sSub>
                            <m:sSubPr>
                              <m:ctrlP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  <m:sSub>
                            <m:sSubPr>
                              <m:ctrlP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𝐹</m:t>
                          </m:r>
                          <m:sSub>
                            <m:sSubPr>
                              <m:ctrlP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b="1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6350" marR="171450" indent="-63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b="1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Sensibilitate</a:t>
                </a:r>
                <a:r>
                  <a:rPr lang="en-GB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(Recall) </a:t>
                </a:r>
                <a:r>
                  <a:rPr lang="en-GB" b="1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pentru</a:t>
                </a:r>
                <a:r>
                  <a:rPr lang="en-GB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b="1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clasa</a:t>
                </a:r>
                <a:r>
                  <a:rPr lang="en-GB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k:</a:t>
                </a:r>
                <a:endParaRPr lang="en-GB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6350" marR="171450" indent="-6350" algn="just">
                  <a:lnSpc>
                    <a:spcPct val="103000"/>
                  </a:lnSpc>
                  <a:spcAft>
                    <a:spcPts val="25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Sensibilitate</m:t>
                          </m:r>
                        </m:e>
                        <m:sub>
                          <m: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  <m:sSub>
                            <m:sSubPr>
                              <m:ctrlP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𝑇</m:t>
                          </m:r>
                          <m:sSub>
                            <m:sSubPr>
                              <m:ctrlP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𝐹</m:t>
                          </m:r>
                          <m:sSub>
                            <m:sSubPr>
                              <m:ctrlP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GB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6350" marR="171450" indent="-6350" algn="ctr">
                  <a:lnSpc>
                    <a:spcPct val="103000"/>
                  </a:lnSpc>
                  <a:spcAft>
                    <a:spcPts val="25"/>
                  </a:spcAft>
                </a:pPr>
                <a:r>
                  <a:rPr lang="en-GB" b="1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Acuratețe</a:t>
                </a:r>
                <a:r>
                  <a:rPr lang="en-GB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b="1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globală</a:t>
                </a:r>
                <a:r>
                  <a:rPr lang="en-GB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  <a:endParaRPr lang="en-GB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Acurate</m:t>
                      </m:r>
                      <m:r>
                        <m:rPr>
                          <m:nor/>
                        </m:rPr>
                        <a:rPr lang="en-GB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ț</m:t>
                      </m:r>
                      <m:r>
                        <m:rPr>
                          <m:nor/>
                        </m:rPr>
                        <a:rPr lang="en-GB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e</m:t>
                      </m:r>
                      <m:r>
                        <a:rPr lang="en-GB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sup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rPr>
                              <m:nor/>
                            </m:rPr>
                            <a:rPr lang="en-GB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Num</m:t>
                          </m:r>
                          <m:r>
                            <m:rPr>
                              <m:nor/>
                            </m:rPr>
                            <a:rPr lang="en-GB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ă</m:t>
                          </m:r>
                          <m:r>
                            <m:rPr>
                              <m:nor/>
                            </m:rPr>
                            <a:rPr lang="en-GB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en-GB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GB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exemple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CasetăText 4">
                <a:extLst>
                  <a:ext uri="{FF2B5EF4-FFF2-40B4-BE49-F238E27FC236}">
                    <a16:creationId xmlns:a16="http://schemas.microsoft.com/office/drawing/2014/main" id="{F9BC60C1-D3C5-D0C9-E7EE-1D784B771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938" y="3581436"/>
                <a:ext cx="5953433" cy="3010632"/>
              </a:xfrm>
              <a:prstGeom prst="rect">
                <a:avLst/>
              </a:prstGeom>
              <a:blipFill>
                <a:blip r:embed="rId3"/>
                <a:stretch>
                  <a:fillRect l="-922" t="-14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47872-A212-F296-52FA-35CD50DAB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F601A05-A483-239B-2B92-88F1A176E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5</a:t>
            </a:r>
            <a:r>
              <a:rPr lang="en-US" altLang="en-US" dirty="0"/>
              <a:t>. Componenta </a:t>
            </a:r>
            <a:r>
              <a:rPr lang="ro-RO" altLang="en-US" dirty="0"/>
              <a:t>5</a:t>
            </a:r>
            <a:r>
              <a:rPr lang="en-US" altLang="en-US" dirty="0"/>
              <a:t>- C</a:t>
            </a:r>
            <a:r>
              <a:rPr lang="it-IT" altLang="en-US" dirty="0"/>
              <a:t>lasificare Automată cu CNN </a:t>
            </a:r>
            <a:endParaRPr lang="ru-RU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Rectangle 3">
                <a:extLst>
                  <a:ext uri="{FF2B5EF4-FFF2-40B4-BE49-F238E27FC236}">
                    <a16:creationId xmlns:a16="http://schemas.microsoft.com/office/drawing/2014/main" id="{22D2B4D7-F096-D1B9-227C-33485E8648A6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22312" y="1873045"/>
                <a:ext cx="8650288" cy="4535487"/>
              </a:xfrm>
            </p:spPr>
            <p:txBody>
              <a:bodyPr/>
              <a:lstStyle/>
              <a:p>
                <a:pPr eaLnBrk="1" hangingPunct="1"/>
                <a:r>
                  <a:rPr lang="ro-RO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Legendă simboluri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b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171450" algn="just">
                  <a:lnSpc>
                    <a:spcPct val="103000"/>
                  </a:lnSpc>
                  <a:spcAft>
                    <a:spcPts val="25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180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𝑇</m:t>
                    </m:r>
                    <m:sSub>
                      <m:sSubPr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-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Numărul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de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exemple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corect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clasificate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ca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aparținând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clasei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k </a:t>
                </a:r>
              </a:p>
              <a:p>
                <a:pPr marR="171450" algn="l">
                  <a:lnSpc>
                    <a:spcPct val="103000"/>
                  </a:lnSpc>
                  <a:spcAft>
                    <a:spcPts val="25"/>
                  </a:spcAft>
                  <a:buFont typeface="Wingdings" panose="05000000000000000000" pitchFamily="2" charset="2"/>
                  <a:buChar char="§"/>
                </a:pP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(True Positives)</a:t>
                </a:r>
                <a:b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𝐹</m:t>
                    </m:r>
                    <m:sSub>
                      <m:sSubPr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Numărul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de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exemple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clasificate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greșit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ca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aparținând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clasei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k </a:t>
                </a:r>
              </a:p>
              <a:p>
                <a:pPr marR="171450" algn="l">
                  <a:lnSpc>
                    <a:spcPct val="103000"/>
                  </a:lnSpc>
                  <a:spcAft>
                    <a:spcPts val="25"/>
                  </a:spcAft>
                  <a:buFont typeface="Wingdings" panose="05000000000000000000" pitchFamily="2" charset="2"/>
                  <a:buChar char="§"/>
                </a:pP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(False Positives)</a:t>
                </a:r>
                <a:b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𝐹</m:t>
                    </m:r>
                    <m:sSub>
                      <m:sSubPr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-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Numărul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de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exemple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care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aparțin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clasei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k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dar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au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fost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clasificate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greșit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(False Negatives)</a:t>
                </a:r>
              </a:p>
              <a:p>
                <a:pPr marR="171450" algn="just">
                  <a:lnSpc>
                    <a:spcPct val="103000"/>
                  </a:lnSpc>
                  <a:spcAft>
                    <a:spcPts val="25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-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Numărul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total de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clase</a:t>
                </a:r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R="171450" algn="just">
                  <a:lnSpc>
                    <a:spcPct val="103000"/>
                  </a:lnSpc>
                  <a:spcAft>
                    <a:spcPts val="25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-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Numărul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total de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exemple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din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setul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de date</a:t>
                </a:r>
              </a:p>
              <a:p>
                <a:pPr eaLnBrk="1" hangingPunct="1"/>
                <a:endParaRPr lang="en-US" sz="18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95" name="Rectangle 3">
                <a:extLst>
                  <a:ext uri="{FF2B5EF4-FFF2-40B4-BE49-F238E27FC236}">
                    <a16:creationId xmlns:a16="http://schemas.microsoft.com/office/drawing/2014/main" id="{22D2B4D7-F096-D1B9-227C-33485E8648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2312" y="1873045"/>
                <a:ext cx="8650288" cy="4535487"/>
              </a:xfrm>
              <a:blipFill>
                <a:blip r:embed="rId3"/>
                <a:stretch>
                  <a:fillRect t="-6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3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3F19-C265-3D89-5C44-50C1A559A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8D72244-4A41-D31B-F26A-1EC64EA38B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5</a:t>
            </a:r>
            <a:r>
              <a:rPr lang="en-US" altLang="en-US" dirty="0"/>
              <a:t>. Componenta </a:t>
            </a:r>
            <a:r>
              <a:rPr lang="ro-RO" altLang="en-US" dirty="0"/>
              <a:t>5</a:t>
            </a:r>
            <a:r>
              <a:rPr lang="en-US" altLang="en-US" dirty="0"/>
              <a:t>- C</a:t>
            </a:r>
            <a:r>
              <a:rPr lang="it-IT" altLang="en-US" dirty="0"/>
              <a:t>lasificare Automată cu CNN </a:t>
            </a:r>
            <a:endParaRPr lang="ru-RU" altLang="en-US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3614E63-9501-13F3-4F75-B94E6C285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4535487"/>
          </a:xfrm>
        </p:spPr>
        <p:txBody>
          <a:bodyPr/>
          <a:lstStyle/>
          <a:p>
            <a:pPr eaLnBrk="1" hangingPunct="1"/>
            <a:r>
              <a:rPr lang="ro-RO" altLang="en-US" sz="2000" dirty="0" err="1"/>
              <a:t>Matrici</a:t>
            </a:r>
            <a:r>
              <a:rPr lang="en-US" altLang="en-US" sz="2000" dirty="0"/>
              <a:t>le</a:t>
            </a:r>
            <a:r>
              <a:rPr lang="ro-RO" altLang="en-US" sz="2000" dirty="0"/>
              <a:t> de confuzie</a:t>
            </a:r>
            <a:r>
              <a:rPr lang="en-US" altLang="en-US" sz="2000" dirty="0"/>
              <a:t>:</a:t>
            </a:r>
          </a:p>
        </p:txBody>
      </p:sp>
      <p:pic>
        <p:nvPicPr>
          <p:cNvPr id="3" name="Imagine 2" descr="O imagine care conține text, captură de ecran, diagramă, Dreptunghi&#10;&#10;Conținutul generat de inteligența artificială poate fi incorect.">
            <a:extLst>
              <a:ext uri="{FF2B5EF4-FFF2-40B4-BE49-F238E27FC236}">
                <a16:creationId xmlns:a16="http://schemas.microsoft.com/office/drawing/2014/main" id="{4C6722D4-EC4A-B347-E842-C88540CE3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85" y="2796389"/>
            <a:ext cx="4694545" cy="3520908"/>
          </a:xfrm>
          <a:prstGeom prst="rect">
            <a:avLst/>
          </a:prstGeom>
        </p:spPr>
      </p:pic>
      <p:pic>
        <p:nvPicPr>
          <p:cNvPr id="5" name="Imagine 4" descr="O imagine care conține text, captură de ecran, diagramă, Dreptunghi&#10;&#10;Conținutul generat de inteligența artificială poate fi incorect.">
            <a:extLst>
              <a:ext uri="{FF2B5EF4-FFF2-40B4-BE49-F238E27FC236}">
                <a16:creationId xmlns:a16="http://schemas.microsoft.com/office/drawing/2014/main" id="{7C93EDC6-87BC-301C-8414-2EFFAD91A9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28"/>
          <a:stretch/>
        </p:blipFill>
        <p:spPr>
          <a:xfrm>
            <a:off x="4694545" y="2796389"/>
            <a:ext cx="4345858" cy="3520909"/>
          </a:xfrm>
          <a:prstGeom prst="rect">
            <a:avLst/>
          </a:prstGeom>
        </p:spPr>
      </p:pic>
      <p:sp>
        <p:nvSpPr>
          <p:cNvPr id="7" name="CasetăText 6">
            <a:extLst>
              <a:ext uri="{FF2B5EF4-FFF2-40B4-BE49-F238E27FC236}">
                <a16:creationId xmlns:a16="http://schemas.microsoft.com/office/drawing/2014/main" id="{DDD9B8D0-5995-07A2-E581-6DD55223E129}"/>
              </a:ext>
            </a:extLst>
          </p:cNvPr>
          <p:cNvSpPr txBox="1"/>
          <p:nvPr/>
        </p:nvSpPr>
        <p:spPr>
          <a:xfrm>
            <a:off x="5494133" y="6301819"/>
            <a:ext cx="4670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400"/>
              </a:spcBef>
              <a:spcAft>
                <a:spcPts val="1000"/>
              </a:spcAft>
              <a:buSzPts val="800"/>
              <a:tabLst>
                <a:tab pos="338455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2.Matricea de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confuzie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Squeezenet</a:t>
            </a:r>
            <a:endParaRPr lang="en-GB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827A2B86-CBF8-DB32-FA4E-50BCCF9D6BF4}"/>
              </a:ext>
            </a:extLst>
          </p:cNvPr>
          <p:cNvSpPr txBox="1"/>
          <p:nvPr/>
        </p:nvSpPr>
        <p:spPr>
          <a:xfrm>
            <a:off x="1063268" y="6317297"/>
            <a:ext cx="5014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400"/>
              </a:spcBef>
              <a:spcAft>
                <a:spcPts val="1000"/>
              </a:spcAft>
              <a:buSzPts val="800"/>
              <a:tabLst>
                <a:tab pos="338455" algn="l"/>
              </a:tabLst>
            </a:pP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1.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Matricea de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confuzie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Resnet50</a:t>
            </a:r>
            <a:endParaRPr lang="en-GB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9400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A04B4-7762-E19B-1CDE-BC936D48A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22FED4A-DE64-A649-7D58-380E719B4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5</a:t>
            </a:r>
            <a:r>
              <a:rPr lang="en-US" altLang="en-US" dirty="0"/>
              <a:t>. Componenta </a:t>
            </a:r>
            <a:r>
              <a:rPr lang="ro-RO" altLang="en-US" dirty="0"/>
              <a:t>5</a:t>
            </a:r>
            <a:r>
              <a:rPr lang="en-US" altLang="en-US" dirty="0"/>
              <a:t>- C</a:t>
            </a:r>
            <a:r>
              <a:rPr lang="it-IT" altLang="en-US" dirty="0"/>
              <a:t>lasificare Automată cu CNN- Resnet50</a:t>
            </a:r>
            <a:endParaRPr lang="ru-RU" altLang="en-US" dirty="0"/>
          </a:p>
        </p:txBody>
      </p:sp>
      <p:pic>
        <p:nvPicPr>
          <p:cNvPr id="3" name="Imagine 2" descr="O imagine care conține text, captură de ecran, număr, Interval&#10;&#10;Conținutul generat de inteligența artificială poate fi incorect.">
            <a:extLst>
              <a:ext uri="{FF2B5EF4-FFF2-40B4-BE49-F238E27FC236}">
                <a16:creationId xmlns:a16="http://schemas.microsoft.com/office/drawing/2014/main" id="{68B8D345-FC7C-B9CA-EF33-7E0E8DE54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1219"/>
            <a:ext cx="9144000" cy="4726781"/>
          </a:xfrm>
          <a:prstGeom prst="rect">
            <a:avLst/>
          </a:prstGeom>
        </p:spPr>
      </p:pic>
      <p:sp>
        <p:nvSpPr>
          <p:cNvPr id="9" name="CasetăText 8">
            <a:extLst>
              <a:ext uri="{FF2B5EF4-FFF2-40B4-BE49-F238E27FC236}">
                <a16:creationId xmlns:a16="http://schemas.microsoft.com/office/drawing/2014/main" id="{4C9CA197-6735-58B7-EE91-6256AC778286}"/>
              </a:ext>
            </a:extLst>
          </p:cNvPr>
          <p:cNvSpPr txBox="1"/>
          <p:nvPr/>
        </p:nvSpPr>
        <p:spPr>
          <a:xfrm>
            <a:off x="1073100" y="1761887"/>
            <a:ext cx="5014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400"/>
              </a:spcBef>
              <a:spcAft>
                <a:spcPts val="1000"/>
              </a:spcAft>
              <a:buSzPts val="800"/>
              <a:tabLst>
                <a:tab pos="338455" algn="l"/>
              </a:tabLst>
            </a:pPr>
            <a:r>
              <a:rPr lang="en-US" dirty="0">
                <a:latin typeface="Times New Roman" panose="02020603050405020304" pitchFamily="18" charset="0"/>
                <a:ea typeface="SimSun" panose="02010600030101010101" pitchFamily="2" charset="-122"/>
              </a:rPr>
              <a:t>1.</a:t>
            </a:r>
            <a:r>
              <a:rPr lang="ro-RO" dirty="0">
                <a:latin typeface="Times New Roman" panose="02020603050405020304" pitchFamily="18" charset="0"/>
                <a:ea typeface="SimSun" panose="02010600030101010101" pitchFamily="2" charset="-122"/>
              </a:rPr>
              <a:t>Procesul de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Antrenare</a:t>
            </a:r>
            <a:r>
              <a:rPr lang="ro-RO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a 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Resnet50</a:t>
            </a:r>
            <a:endParaRPr lang="en-GB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2071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0D42B-DE78-BCCE-DAB7-5CA7B32DC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9FBE489-0F48-FD13-93AC-6A6A8B279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5</a:t>
            </a:r>
            <a:r>
              <a:rPr lang="en-US" altLang="en-US" dirty="0"/>
              <a:t>. Componenta </a:t>
            </a:r>
            <a:r>
              <a:rPr lang="ro-RO" altLang="en-US" dirty="0"/>
              <a:t>5</a:t>
            </a:r>
            <a:r>
              <a:rPr lang="en-US" altLang="en-US" dirty="0"/>
              <a:t>- C</a:t>
            </a:r>
            <a:r>
              <a:rPr lang="it-IT" altLang="en-US" dirty="0"/>
              <a:t>lasificare Automată cu CNN- </a:t>
            </a:r>
            <a:r>
              <a:rPr lang="it-IT" altLang="en-US" sz="4000" dirty="0"/>
              <a:t>Squeezenet</a:t>
            </a:r>
            <a:endParaRPr lang="ru-RU" altLang="en-US" dirty="0"/>
          </a:p>
        </p:txBody>
      </p:sp>
      <p:pic>
        <p:nvPicPr>
          <p:cNvPr id="5" name="Imagine 4" descr="O imagine care conține text, captură de ecran, Interval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9577516F-9F02-DC2F-6EE8-E497A73CF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1219"/>
            <a:ext cx="9144000" cy="4726781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F069C9F6-72C8-2C8D-968D-E20B8EEB296C}"/>
              </a:ext>
            </a:extLst>
          </p:cNvPr>
          <p:cNvSpPr txBox="1"/>
          <p:nvPr/>
        </p:nvSpPr>
        <p:spPr>
          <a:xfrm>
            <a:off x="1150938" y="1761887"/>
            <a:ext cx="4670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spcBef>
                <a:spcPts val="400"/>
              </a:spcBef>
              <a:spcAft>
                <a:spcPts val="1000"/>
              </a:spcAft>
              <a:buSzPts val="800"/>
              <a:tabLst>
                <a:tab pos="338455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2.</a:t>
            </a:r>
            <a:r>
              <a:rPr lang="ro-RO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Procesul de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Antrenare</a:t>
            </a:r>
            <a:r>
              <a:rPr lang="ro-RO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Squeezenet</a:t>
            </a:r>
            <a:endParaRPr lang="en-GB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0246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78DF7-F68B-2446-BB43-227BD7F99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EA6C1D9-93E4-5045-FC3D-721D608EF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6</a:t>
            </a:r>
            <a:r>
              <a:rPr lang="en-US" altLang="en-US" dirty="0"/>
              <a:t>. Componenta </a:t>
            </a:r>
            <a:r>
              <a:rPr lang="ro-RO" altLang="en-US" dirty="0"/>
              <a:t>6</a:t>
            </a:r>
            <a:r>
              <a:rPr lang="en-US" altLang="en-US" dirty="0"/>
              <a:t>- MFCC + Weka</a:t>
            </a:r>
            <a:endParaRPr lang="ru-RU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Rectangle 3">
                <a:extLst>
                  <a:ext uri="{FF2B5EF4-FFF2-40B4-BE49-F238E27FC236}">
                    <a16:creationId xmlns:a16="http://schemas.microsoft.com/office/drawing/2014/main" id="{EBB8A6D7-0BC1-6A1D-5923-849585793CD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93687" y="1995814"/>
                <a:ext cx="8650288" cy="4746195"/>
              </a:xfrm>
            </p:spPr>
            <p:txBody>
              <a:bodyPr/>
              <a:lstStyle/>
              <a:p>
                <a:pPr eaLnBrk="1" hangingPunct="1"/>
                <a:r>
                  <a:rPr lang="ro-RO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Mel-</a:t>
                </a:r>
                <a:r>
                  <a:rPr lang="ro-RO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Frequency</a:t>
                </a:r>
                <a:r>
                  <a:rPr lang="ro-RO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Cepstral</a:t>
                </a:r>
                <a:r>
                  <a:rPr lang="ro-RO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1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Coefficients</a:t>
                </a:r>
                <a:r>
                  <a:rPr lang="ro-RO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(MFCC) sunt vectori de caracteristici care descriu conținutul spectral al unui semnal audio, modelând modul în care urechea umană percepe sunetul. Procesul de calcul implică următorii pași: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endParaRPr lang="ro-RO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1. 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𝑆𝑝𝑒𝑐𝑡𝑟𝑢𝑙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𝑑𝑒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𝑝𝑢𝑡𝑒𝑟𝑒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𝑎𝑙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𝑓𝑒𝑟𝑒𝑠𝑡𝑟𝑒𝑖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𝑎𝑢𝑑𝑖𝑜</m:t>
                      </m:r>
                    </m:oMath>
                    <m:oMath xmlns:m="http://schemas.openxmlformats.org/officeDocument/2006/math">
                      <m:r>
                        <a:rPr lang="en-GB" sz="1800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 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GB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GB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GB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f>
                                        <m:fPr>
                                          <m:ctrlPr>
                                            <a:rPr lang="en-GB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GB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GB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Aptos" panose="020B000402020202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r>
                                        <a:rPr lang="en-GB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Aptos" panose="020B0004020202020204" pitchFamily="34" charset="0"/>
                                          <a:cs typeface="Times New Roman" panose="02020603050405020304" pitchFamily="18" charset="0"/>
                                        </a:rPr>
                                        <m:t>𝑘𝑛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GB" sz="1800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 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=0,1,</m:t>
                      </m:r>
                      <m:r>
                        <a:rPr lang="en-GB" sz="1800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en-GB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2. 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𝐴𝑝𝑙𝑖𝑐𝑎𝑟𝑒𝑎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𝑓𝑖𝑙𝑡𝑟𝑒𝑙𝑜𝑟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𝑀𝑒𝑙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𝑝𝑒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𝑠𝑝𝑒𝑐𝑡𝑟𝑢𝑙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𝑑𝑒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𝑝𝑢𝑡𝑒𝑟𝑒</m:t>
                      </m:r>
                    </m:oMath>
                  </m:oMathPara>
                </a14:m>
                <a:endParaRPr lang="en-GB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  <m:sSub>
                            <m:sSub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GB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 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=1,2,</m:t>
                      </m:r>
                      <m:r>
                        <a:rPr lang="en-GB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𝑀</m:t>
                      </m:r>
                    </m:oMath>
                  </m:oMathPara>
                </a14:m>
                <a:endParaRPr lang="en-GB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3. 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𝐿𝑜𝑔𝑎𝑟𝑖𝑡𝑚𝑢𝑙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𝑒𝑛𝑒𝑟𝑔𝑖𝑒𝑖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î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𝑏𝑎𝑛𝑑𝑎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𝑀𝑒𝑙</m:t>
                      </m:r>
                    </m:oMath>
                    <m:oMath xmlns:m="http://schemas.openxmlformats.org/officeDocument/2006/math">
                      <m:r>
                        <a:rPr lang="en-GB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GB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br>
                  <a:rPr lang="ro-RO" altLang="en-US" sz="2200" dirty="0"/>
                </a:br>
                <a:endParaRPr lang="en-US" altLang="en-US" sz="2200" dirty="0"/>
              </a:p>
            </p:txBody>
          </p:sp>
        </mc:Choice>
        <mc:Fallback xmlns="">
          <p:sp>
            <p:nvSpPr>
              <p:cNvPr id="7171" name="Rectangle 3">
                <a:extLst>
                  <a:ext uri="{FF2B5EF4-FFF2-40B4-BE49-F238E27FC236}">
                    <a16:creationId xmlns:a16="http://schemas.microsoft.com/office/drawing/2014/main" id="{EBB8A6D7-0BC1-6A1D-5923-849585793C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93687" y="1995814"/>
                <a:ext cx="8650288" cy="4746195"/>
              </a:xfrm>
              <a:blipFill>
                <a:blip r:embed="rId3"/>
                <a:stretch>
                  <a:fillRect t="-642" r="-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7873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4E43A-853D-9CCE-BB48-D48AEED84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112CD6F-351B-4CE1-5998-150F07B2A6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6</a:t>
            </a:r>
            <a:r>
              <a:rPr lang="en-US" altLang="en-US" dirty="0"/>
              <a:t>. Componenta </a:t>
            </a:r>
            <a:r>
              <a:rPr lang="ro-RO" altLang="en-US" dirty="0"/>
              <a:t>6</a:t>
            </a:r>
            <a:r>
              <a:rPr lang="en-US" altLang="en-US" dirty="0"/>
              <a:t>- MFCC + Weka</a:t>
            </a:r>
            <a:endParaRPr lang="ru-RU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Rectangle 3">
                <a:extLst>
                  <a:ext uri="{FF2B5EF4-FFF2-40B4-BE49-F238E27FC236}">
                    <a16:creationId xmlns:a16="http://schemas.microsoft.com/office/drawing/2014/main" id="{6E57A459-D0AD-8F71-6BB9-E69F60BA85D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93687" y="1995814"/>
                <a:ext cx="8650288" cy="1848599"/>
              </a:xfrm>
            </p:spPr>
            <p:txBody>
              <a:bodyPr/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4.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𝐶𝑎𝑙𝑐𝑢𝑙𝑢𝑙</m:t>
                      </m:r>
                      <m:r>
                        <a:rPr lang="ro-RO" sz="1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𝑐𝑜𝑒𝑓𝑖𝑐𝑖𝑒𝑛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ț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𝑖𝑙𝑜𝑟</m:t>
                      </m:r>
                      <m:r>
                        <a:rPr lang="ro-RO" sz="1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𝑐𝑒𝑝𝑠𝑡𝑟𝑎𝑙𝑖</m:t>
                      </m:r>
                      <m:r>
                        <a:rPr lang="ro-RO" sz="1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𝑀𝐹𝐶𝐶</m:t>
                      </m:r>
                      <m:r>
                        <a:rPr lang="ro-RO" sz="1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𝑝𝑟𝑖𝑛</m:t>
                      </m:r>
                      <m:r>
                        <a:rPr lang="ro-RO" sz="1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𝑡𝑟𝑎𝑛𝑠𝑓𝑜𝑟𝑚𝑎𝑡𝑎</m:t>
                      </m:r>
                      <m:r>
                        <a:rPr lang="ro-RO" sz="1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𝑐𝑜𝑠𝑖𝑛𝑢𝑠</m:t>
                      </m:r>
                      <m:r>
                        <a:rPr lang="ro-RO" sz="1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𝑑𝑖𝑠𝑐𝑟𝑒𝑡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ă </m:t>
                      </m:r>
                      <m:d>
                        <m:d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𝐷𝐶𝑇</m:t>
                          </m:r>
                        </m:e>
                      </m:d>
                      <m:r>
                        <a:rPr lang="en-US" sz="1800" b="0" i="0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:</m:t>
                      </m:r>
                    </m:oMath>
                  </m:oMathPara>
                </a14:m>
                <a:endParaRPr lang="en-GB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en-GB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800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GB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GB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GB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 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=1,2,</m:t>
                      </m:r>
                      <m:r>
                        <a:rPr lang="en-GB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𝐿</m:t>
                      </m:r>
                    </m:oMath>
                  </m:oMathPara>
                </a14:m>
                <a:endParaRPr lang="en-GB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en-GB" sz="15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br>
                  <a:rPr lang="ro-RO" altLang="en-US" sz="2200" dirty="0"/>
                </a:br>
                <a:endParaRPr lang="en-US" altLang="en-US" sz="2200" dirty="0"/>
              </a:p>
            </p:txBody>
          </p:sp>
        </mc:Choice>
        <mc:Fallback xmlns="">
          <p:sp>
            <p:nvSpPr>
              <p:cNvPr id="7171" name="Rectangle 3">
                <a:extLst>
                  <a:ext uri="{FF2B5EF4-FFF2-40B4-BE49-F238E27FC236}">
                    <a16:creationId xmlns:a16="http://schemas.microsoft.com/office/drawing/2014/main" id="{6E57A459-D0AD-8F71-6BB9-E69F60BA85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93687" y="1995814"/>
                <a:ext cx="8650288" cy="184859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D55563B6-ACA1-1C55-DB6F-A1A87D96BA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025" y="3529648"/>
                <a:ext cx="8650288" cy="31857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>
                  <a:lnSpc>
                    <a:spcPct val="115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q"/>
                </a:pPr>
                <a:r>
                  <a:rPr lang="ro-RO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Legendă simboluri</a:t>
                </a:r>
                <a:r>
                  <a:rPr lang="en-US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18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18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semnalul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audio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î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domeniul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timp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la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ș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antionul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dimensiunea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ferestrei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pentru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analiza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spectral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ă (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num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ă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rul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de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ș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antioane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800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spectrul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de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putere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la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frecven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ț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num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ă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rul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de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filtre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Mel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ap</m:t>
                    </m:r>
                    <m:r>
                      <m:rPr>
                        <m:sty m:val="p"/>
                      </m:rPr>
                      <a:rPr lang="en-US" sz="18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licate</m:t>
                    </m:r>
                  </m:oMath>
                </a14:m>
                <a:endParaRPr lang="en-US" sz="1800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ă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spunsul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filtrului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Mel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num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ă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rul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la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frecven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ț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energia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total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ă î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banda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Mel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D55563B6-ACA1-1C55-DB6F-A1A87D96B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025" y="3529648"/>
                <a:ext cx="8650288" cy="3185784"/>
              </a:xfrm>
              <a:prstGeom prst="rect">
                <a:avLst/>
              </a:prstGeom>
              <a:blipFill>
                <a:blip r:embed="rId4"/>
                <a:stretch>
                  <a:fillRect t="-382" b="-24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4730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E17FE-39E4-0E87-211B-1D06E4A76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491544F-A165-9882-AFF6-0288456F9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6</a:t>
            </a:r>
            <a:r>
              <a:rPr lang="en-US" altLang="en-US" dirty="0"/>
              <a:t>. Componenta </a:t>
            </a:r>
            <a:r>
              <a:rPr lang="ro-RO" altLang="en-US" dirty="0"/>
              <a:t>6</a:t>
            </a:r>
            <a:r>
              <a:rPr lang="en-US" altLang="en-US" dirty="0"/>
              <a:t>- MFCC + Weka</a:t>
            </a:r>
            <a:endParaRPr lang="ru-RU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1DCFC88B-672A-B916-C556-E497DD6BCE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529" y="1976285"/>
                <a:ext cx="8650288" cy="6673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logaritmul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energiei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î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banda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Mel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en-US" sz="18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coeficientul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MFCC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num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ă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rul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coeficient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cepstral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num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ă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rul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total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de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coeficien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ț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MFCC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calcula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ț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dimensiunea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vectorului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de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caracteristici</m:t>
                    </m:r>
                    <m:r>
                      <m:rPr>
                        <m:nor/>
                      </m:rPr>
                      <a:rPr lang="en-US" sz="18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800" kern="1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en-US" sz="18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buFont typeface="Wingdings" panose="05000000000000000000" pitchFamily="2" charset="2"/>
                  <a:buChar char="v"/>
                </a:pPr>
                <a:r>
                  <a:rPr lang="ro-RO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 clasificarea semnalelor audio pe baza MFCC-urilor, s-a utilizat un clasificator SVM implementat în </a:t>
                </a:r>
                <a:r>
                  <a:rPr lang="ro-RO" sz="1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Weka</a:t>
                </a:r>
                <a:r>
                  <a:rPr lang="ro-RO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cu următoarele setări:</a:t>
                </a:r>
                <a:endParaRPr lang="en-US" sz="18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buFont typeface="Wingdings" panose="05000000000000000000" pitchFamily="2" charset="2"/>
                  <a:buChar char="v"/>
                </a:pPr>
                <a:r>
                  <a:rPr lang="ro-RO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Algoritm: </a:t>
                </a:r>
                <a:r>
                  <a:rPr lang="ro-RO" sz="1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Sequential</a:t>
                </a:r>
                <a:r>
                  <a:rPr lang="ro-RO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Minimal </a:t>
                </a:r>
                <a:r>
                  <a:rPr lang="ro-RO" sz="1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Optimization</a:t>
                </a:r>
                <a:r>
                  <a:rPr lang="ro-RO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(SMO) pentru antrenarea </a:t>
                </a:r>
                <a:r>
                  <a:rPr lang="ro-RO" sz="1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SVMKernel</a:t>
                </a:r>
                <a:r>
                  <a:rPr lang="ro-RO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o-RO" sz="1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polynomial</a:t>
                </a:r>
                <a:r>
                  <a:rPr lang="ro-RO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1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kernel</a:t>
                </a:r>
                <a:r>
                  <a:rPr lang="ro-RO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parametrizat pentru performanță optimă</a:t>
                </a:r>
                <a:endParaRPr lang="en-US" sz="18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buFont typeface="Wingdings" panose="05000000000000000000" pitchFamily="2" charset="2"/>
                  <a:buChar char="v"/>
                </a:pPr>
                <a:r>
                  <a:rPr lang="ro-RO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Parametrul de regularizare 𝐶=10</a:t>
                </a:r>
                <a:endParaRPr lang="en-US" sz="18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buFont typeface="Wingdings" panose="05000000000000000000" pitchFamily="2" charset="2"/>
                  <a:buChar char="v"/>
                </a:pPr>
                <a:r>
                  <a:rPr lang="ro-RO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Normalizarea datelor de antrenament activată</a:t>
                </a:r>
                <a:endParaRPr lang="en-US" sz="1800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buFont typeface="Wingdings" panose="05000000000000000000" pitchFamily="2" charset="2"/>
                  <a:buChar char="v"/>
                </a:pPr>
                <a:r>
                  <a:rPr lang="en-US" sz="1800" kern="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Acest</a:t>
                </a:r>
                <a:r>
                  <a:rPr lang="en-US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o-RO" sz="18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a fost antrenat și validat pe un set de 2000 de exemple, obținând o acuratețe globală de aproximativ 87%.</a:t>
                </a:r>
                <a:endParaRPr lang="en-US" altLang="en-US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Wingdings" panose="05000000000000000000" pitchFamily="2" charset="2"/>
                  <a:buNone/>
                </a:pPr>
                <a:br>
                  <a:rPr lang="ro-RO" altLang="en-US" sz="2200" kern="0" dirty="0"/>
                </a:br>
                <a:endParaRPr lang="en-US" altLang="en-US" sz="2200" kern="0" dirty="0"/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1DCFC88B-672A-B916-C556-E497DD6BC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529" y="1976285"/>
                <a:ext cx="8650288" cy="6673184"/>
              </a:xfrm>
              <a:prstGeom prst="rect">
                <a:avLst/>
              </a:prstGeom>
              <a:blipFill>
                <a:blip r:embed="rId3"/>
                <a:stretch>
                  <a:fillRect l="-211" r="-105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1248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ABE90-957F-0480-4A40-7311B01B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3A06CDC-A284-A906-7A50-339BF8B791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6</a:t>
            </a:r>
            <a:r>
              <a:rPr lang="en-US" altLang="en-US" dirty="0"/>
              <a:t>. Componenta </a:t>
            </a:r>
            <a:r>
              <a:rPr lang="ro-RO" altLang="en-US" dirty="0"/>
              <a:t>6</a:t>
            </a:r>
            <a:r>
              <a:rPr lang="en-US" altLang="en-US" dirty="0"/>
              <a:t>- MFCC + Weka</a:t>
            </a:r>
            <a:endParaRPr lang="ru-RU" altLang="en-US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AF6E767-049E-979C-417F-628DA03E39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794313"/>
          </a:xfrm>
        </p:spPr>
        <p:txBody>
          <a:bodyPr/>
          <a:lstStyle/>
          <a:p>
            <a:pPr eaLnBrk="1" hangingPunct="1"/>
            <a:r>
              <a:rPr lang="en-US" altLang="en-US" sz="2000" dirty="0" err="1"/>
              <a:t>Ilustrare</a:t>
            </a:r>
            <a:r>
              <a:rPr lang="en-US" altLang="en-US" sz="2000" dirty="0"/>
              <a:t> cu </a:t>
            </a:r>
            <a:r>
              <a:rPr lang="en-US" altLang="en-US" sz="2000" dirty="0" err="1"/>
              <a:t>grafice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capturi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ecran</a:t>
            </a:r>
            <a:r>
              <a:rPr lang="en-US" altLang="en-US" sz="2000" dirty="0"/>
              <a:t>, care </a:t>
            </a:r>
            <a:r>
              <a:rPr lang="en-US" altLang="en-US" sz="2000" dirty="0" err="1"/>
              <a:t>ilustreaza</a:t>
            </a:r>
            <a:r>
              <a:rPr lang="en-US" altLang="en-US" sz="2000" dirty="0"/>
              <a:t> in mod didactic </a:t>
            </a:r>
            <a:r>
              <a:rPr lang="en-US" altLang="en-US" sz="2000" dirty="0" err="1"/>
              <a:t>aceasta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componenta</a:t>
            </a:r>
            <a:r>
              <a:rPr lang="en-US" altLang="en-US" sz="2000" dirty="0"/>
              <a:t>:</a:t>
            </a:r>
          </a:p>
          <a:p>
            <a:pPr eaLnBrk="1" hangingPunct="1"/>
            <a:endParaRPr lang="en-US" altLang="en-US" sz="2200" dirty="0"/>
          </a:p>
        </p:txBody>
      </p:sp>
      <p:pic>
        <p:nvPicPr>
          <p:cNvPr id="4" name="Imagine 3" descr="O imagine care conține text, captură de ecran, Font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93542866-A64C-F16D-72C4-A7BE70CE3C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" r="33441"/>
          <a:stretch/>
        </p:blipFill>
        <p:spPr>
          <a:xfrm>
            <a:off x="0" y="2674374"/>
            <a:ext cx="6666271" cy="4046895"/>
          </a:xfrm>
          <a:prstGeom prst="rect">
            <a:avLst/>
          </a:prstGeom>
        </p:spPr>
      </p:pic>
      <p:pic>
        <p:nvPicPr>
          <p:cNvPr id="8" name="Imagine 7" descr="O imagine care conține text, captură de ecran, software, număr&#10;&#10;Conținutul generat de inteligența artificială poate fi incorect.">
            <a:extLst>
              <a:ext uri="{FF2B5EF4-FFF2-40B4-BE49-F238E27FC236}">
                <a16:creationId xmlns:a16="http://schemas.microsoft.com/office/drawing/2014/main" id="{822E3994-7624-3C72-19CA-AFEACC2483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41" b="5835"/>
          <a:stretch/>
        </p:blipFill>
        <p:spPr>
          <a:xfrm>
            <a:off x="6187809" y="2969718"/>
            <a:ext cx="2887365" cy="359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145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F322A-1A64-C8F4-63CF-BEA9FF870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FB71AEE-37E5-7B76-0CFF-570DB21B56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7</a:t>
            </a:r>
            <a:r>
              <a:rPr lang="en-US" altLang="en-US" dirty="0"/>
              <a:t>. Componenta </a:t>
            </a:r>
            <a:r>
              <a:rPr lang="ro-RO" altLang="en-US" dirty="0"/>
              <a:t>7 Metrici obiective</a:t>
            </a:r>
            <a:endParaRPr lang="ru-RU" altLang="en-US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34C6D32-D990-D7EA-0419-8A31DBF040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794313"/>
          </a:xfrm>
        </p:spPr>
        <p:txBody>
          <a:bodyPr/>
          <a:lstStyle/>
          <a:p>
            <a:pPr eaLnBrk="1" hangingPunct="1"/>
            <a:r>
              <a:rPr lang="en-US" altLang="en-US" sz="2000" dirty="0" err="1"/>
              <a:t>Suport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teretic</a:t>
            </a:r>
            <a:r>
              <a:rPr lang="en-US" altLang="en-US" sz="2000" dirty="0"/>
              <a:t> cu </a:t>
            </a:r>
            <a:r>
              <a:rPr lang="en-US" altLang="en-US" sz="2000" dirty="0" err="1"/>
              <a:t>relatii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matematice</a:t>
            </a:r>
            <a:r>
              <a:rPr lang="en-US" altLang="en-US" sz="2000" dirty="0"/>
              <a:t>:</a:t>
            </a:r>
          </a:p>
          <a:p>
            <a:pPr eaLnBrk="1" hangingPunct="1"/>
            <a:endParaRPr lang="en-US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3614D6B5-23AD-51EA-46A6-7AC1247276CD}"/>
                  </a:ext>
                </a:extLst>
              </p:cNvPr>
              <p:cNvSpPr txBox="1"/>
              <p:nvPr/>
            </p:nvSpPr>
            <p:spPr>
              <a:xfrm>
                <a:off x="-21950" y="2414869"/>
                <a:ext cx="5001112" cy="16728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sz="1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SNR (Signal-to-Noise Ratio)</a:t>
                </a:r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0" i="0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en-GB" sz="18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SN</m:t>
                      </m:r>
                      <m:sSub>
                        <m:sSub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zgomot</m:t>
                          </m:r>
                        </m:sub>
                      </m:sSub>
                      <m:r>
                        <a:rPr lang="en-GB" sz="18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800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func>
                      <m:f>
                        <m:f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sz="1800" i="1" kern="100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8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SN</m:t>
                      </m:r>
                      <m:sSub>
                        <m:sSub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filtrat</m:t>
                          </m:r>
                        </m:sub>
                      </m:sSub>
                      <m:r>
                        <a:rPr lang="en-GB" sz="18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800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func>
                      <m:f>
                        <m:f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asetăText 2">
                <a:extLst>
                  <a:ext uri="{FF2B5EF4-FFF2-40B4-BE49-F238E27FC236}">
                    <a16:creationId xmlns:a16="http://schemas.microsoft.com/office/drawing/2014/main" id="{3614D6B5-23AD-51EA-46A6-7AC124727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950" y="2414869"/>
                <a:ext cx="5001112" cy="1672894"/>
              </a:xfrm>
              <a:prstGeom prst="rect">
                <a:avLst/>
              </a:prstGeom>
              <a:blipFill>
                <a:blip r:embed="rId3"/>
                <a:stretch>
                  <a:fillRect t="-21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tăText 4">
                <a:extLst>
                  <a:ext uri="{FF2B5EF4-FFF2-40B4-BE49-F238E27FC236}">
                    <a16:creationId xmlns:a16="http://schemas.microsoft.com/office/drawing/2014/main" id="{B5B2D30B-65C0-2E91-89FE-5DAFFA142D54}"/>
                  </a:ext>
                </a:extLst>
              </p:cNvPr>
              <p:cNvSpPr txBox="1"/>
              <p:nvPr/>
            </p:nvSpPr>
            <p:spPr>
              <a:xfrm>
                <a:off x="304800" y="4225130"/>
                <a:ext cx="4572000" cy="22875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sz="1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SDR (Signal-to-Distortion Ratio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</a:p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8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SD</m:t>
                      </m:r>
                      <m:sSub>
                        <m:sSub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zgomotos</m:t>
                          </m:r>
                        </m:sub>
                      </m:sSub>
                      <m:r>
                        <a:rPr lang="en-GB" sz="18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800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∗</m:t>
                          </m:r>
                        </m:e>
                      </m:func>
                      <m:f>
                        <m:f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18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18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18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8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SD</m:t>
                      </m:r>
                      <m:sSub>
                        <m:sSub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filtrat</m:t>
                          </m:r>
                        </m:sub>
                      </m:sSub>
                      <m:r>
                        <a:rPr lang="en-GB" sz="18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800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∗</m:t>
                          </m:r>
                        </m:e>
                      </m:func>
                      <m:f>
                        <m:f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GB" sz="18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18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18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18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asetăText 4">
                <a:extLst>
                  <a:ext uri="{FF2B5EF4-FFF2-40B4-BE49-F238E27FC236}">
                    <a16:creationId xmlns:a16="http://schemas.microsoft.com/office/drawing/2014/main" id="{B5B2D30B-65C0-2E91-89FE-5DAFFA142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225130"/>
                <a:ext cx="4572000" cy="2287549"/>
              </a:xfrm>
              <a:prstGeom prst="rect">
                <a:avLst/>
              </a:prstGeom>
              <a:blipFill>
                <a:blip r:embed="rId4"/>
                <a:stretch>
                  <a:fillRect t="-16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tăText 6">
                <a:extLst>
                  <a:ext uri="{FF2B5EF4-FFF2-40B4-BE49-F238E27FC236}">
                    <a16:creationId xmlns:a16="http://schemas.microsoft.com/office/drawing/2014/main" id="{9E98B37D-9640-2ED7-39EE-C7A98FC07220}"/>
                  </a:ext>
                </a:extLst>
              </p:cNvPr>
              <p:cNvSpPr txBox="1"/>
              <p:nvPr/>
            </p:nvSpPr>
            <p:spPr>
              <a:xfrm>
                <a:off x="4267200" y="2413497"/>
                <a:ext cx="4572000" cy="2031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sz="1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SLR (Signal to Leakage Ratio)</a:t>
                </a:r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sz="1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8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SL</m:t>
                      </m:r>
                      <m:sSub>
                        <m:sSub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zgomotos</m:t>
                          </m:r>
                        </m:sub>
                      </m:sSub>
                      <m:r>
                        <a:rPr lang="en-GB" sz="18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800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⋅</m:t>
                          </m:r>
                        </m:e>
                      </m:func>
                      <m:f>
                        <m:f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nor/>
                                    </m:rPr>
                                    <a:rPr lang="en-GB" sz="1800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leakage</m:t>
                                  </m:r>
                                </m:e>
                                <m:sub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𝑧</m:t>
                                  </m:r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8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SL</m:t>
                      </m:r>
                      <m:sSub>
                        <m:sSub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filtrat</m:t>
                          </m:r>
                        </m:sub>
                      </m:sSub>
                      <m:r>
                        <a:rPr lang="en-GB" sz="18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800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⋅</m:t>
                          </m:r>
                        </m:e>
                      </m:func>
                      <m:f>
                        <m:f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nor/>
                                    </m:rPr>
                                    <a:rPr lang="en-GB" sz="1800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leakage</m:t>
                                  </m:r>
                                </m:e>
                                <m:sub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𝑦</m:t>
                                  </m:r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asetăText 6">
                <a:extLst>
                  <a:ext uri="{FF2B5EF4-FFF2-40B4-BE49-F238E27FC236}">
                    <a16:creationId xmlns:a16="http://schemas.microsoft.com/office/drawing/2014/main" id="{9E98B37D-9640-2ED7-39EE-C7A98FC07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2413497"/>
                <a:ext cx="4572000" cy="2031005"/>
              </a:xfrm>
              <a:prstGeom prst="rect">
                <a:avLst/>
              </a:prstGeom>
              <a:blipFill>
                <a:blip r:embed="rId5"/>
                <a:stretch>
                  <a:fillRect t="-21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tăText 8">
                <a:extLst>
                  <a:ext uri="{FF2B5EF4-FFF2-40B4-BE49-F238E27FC236}">
                    <a16:creationId xmlns:a16="http://schemas.microsoft.com/office/drawing/2014/main" id="{3BAA18C7-5B36-7F4C-1E2F-7CDF078D1587}"/>
                  </a:ext>
                </a:extLst>
              </p:cNvPr>
              <p:cNvSpPr txBox="1"/>
              <p:nvPr/>
            </p:nvSpPr>
            <p:spPr>
              <a:xfrm>
                <a:off x="4373256" y="4395662"/>
                <a:ext cx="4581832" cy="18548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sz="1800" b="1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Similaritate</a:t>
                </a:r>
                <a:r>
                  <a:rPr lang="en-GB" sz="1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b="1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cosinus</a:t>
                </a:r>
                <a:r>
                  <a:rPr lang="en-US" sz="1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US" sz="1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8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CosSim</m:t>
                      </m:r>
                      <m:r>
                        <a:rPr lang="en-GB" sz="18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CasetăText 8">
                <a:extLst>
                  <a:ext uri="{FF2B5EF4-FFF2-40B4-BE49-F238E27FC236}">
                    <a16:creationId xmlns:a16="http://schemas.microsoft.com/office/drawing/2014/main" id="{3BAA18C7-5B36-7F4C-1E2F-7CDF078D1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256" y="4395662"/>
                <a:ext cx="4581832" cy="18548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9499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72312-75AA-6175-811D-7778D2E15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9FDE6FA-6EED-7CC5-0B44-77779EFBA9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7</a:t>
            </a:r>
            <a:r>
              <a:rPr lang="en-US" altLang="en-US" dirty="0"/>
              <a:t>. Componenta </a:t>
            </a:r>
            <a:r>
              <a:rPr lang="ro-RO" altLang="en-US" dirty="0"/>
              <a:t>7 Metrici obiective</a:t>
            </a:r>
            <a:endParaRPr lang="ru-RU" altLang="en-US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46F927C-1C8D-EB28-5929-3F514A3C0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794313"/>
          </a:xfrm>
        </p:spPr>
        <p:txBody>
          <a:bodyPr/>
          <a:lstStyle/>
          <a:p>
            <a:pPr eaLnBrk="1" hangingPunct="1"/>
            <a:r>
              <a:rPr lang="en-US" altLang="en-US" sz="2000" dirty="0" err="1"/>
              <a:t>Suport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teretic</a:t>
            </a:r>
            <a:r>
              <a:rPr lang="en-US" altLang="en-US" sz="2000" dirty="0"/>
              <a:t> cu </a:t>
            </a:r>
            <a:r>
              <a:rPr lang="en-US" altLang="en-US" sz="2000" dirty="0" err="1"/>
              <a:t>relatii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matematice</a:t>
            </a:r>
            <a:r>
              <a:rPr lang="en-US" altLang="en-US" sz="2000" dirty="0"/>
              <a:t>:</a:t>
            </a:r>
          </a:p>
          <a:p>
            <a:pPr eaLnBrk="1" hangingPunct="1"/>
            <a:endParaRPr lang="en-US" alt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tăText 3">
                <a:extLst>
                  <a:ext uri="{FF2B5EF4-FFF2-40B4-BE49-F238E27FC236}">
                    <a16:creationId xmlns:a16="http://schemas.microsoft.com/office/drawing/2014/main" id="{B94618DB-1549-4E0E-57ED-7EA679A8AC27}"/>
                  </a:ext>
                </a:extLst>
              </p:cNvPr>
              <p:cNvSpPr txBox="1"/>
              <p:nvPr/>
            </p:nvSpPr>
            <p:spPr>
              <a:xfrm>
                <a:off x="0" y="2463169"/>
                <a:ext cx="9144000" cy="1570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sz="1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Formula </a:t>
                </a:r>
                <a:r>
                  <a:rPr lang="en-GB" sz="1800" b="1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eficienței</a:t>
                </a:r>
                <a:r>
                  <a:rPr lang="en-GB" sz="1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b="1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filtrării</a:t>
                </a:r>
                <a:r>
                  <a:rPr lang="en-GB" sz="1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  <a:br>
                  <a:rPr lang="en-GB" sz="1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</a:br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18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Eficien</m:t>
                      </m:r>
                      <m:r>
                        <m:rPr>
                          <m:nor/>
                        </m:rPr>
                        <a:rPr lang="en-GB" sz="18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ț</m:t>
                      </m:r>
                      <m:r>
                        <m:rPr>
                          <m:nor/>
                        </m:rPr>
                        <a:rPr lang="en-GB" sz="1800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a</m:t>
                      </m:r>
                      <m:r>
                        <a:rPr lang="en-GB" sz="18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8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8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GB" sz="1800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SN</m:t>
                                  </m:r>
                                  <m:sSub>
                                    <m:sSubPr>
                                      <m:ctrlP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 sz="1800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GB" sz="1800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filtrat</m:t>
                                      </m:r>
                                    </m:sub>
                                  </m:sSub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sz="1800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CosSim</m:t>
                                  </m:r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sz="1800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SL</m:t>
                                  </m:r>
                                  <m:sSub>
                                    <m:sSubPr>
                                      <m:ctrlP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 sz="1800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GB" sz="1800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filtrat</m:t>
                                      </m:r>
                                    </m:sub>
                                  </m:sSub>
                                  <m:r>
                                    <a:rPr lang="en-GB" sz="18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sz="1800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SD</m:t>
                                  </m:r>
                                  <m:sSub>
                                    <m:sSubPr>
                                      <m:ctrlPr>
                                        <a:rPr lang="en-GB" sz="18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 sz="1800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GB" sz="1800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filtrat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GB" sz="1800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MaxTotal</m:t>
                                  </m:r>
                                </m:den>
                              </m:f>
                              <m:r>
                                <a:rPr lang="en-GB" sz="1800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×</m:t>
                              </m:r>
                              <m:r>
                                <a:rPr lang="en-GB" sz="18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100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</a:pP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Unde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800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MaxTotal</m:t>
                    </m:r>
                    <m:r>
                      <a:rPr lang="en-GB" sz="18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=12+1+12+3=28</m:t>
                    </m:r>
                  </m:oMath>
                </a14:m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CasetăText 3">
                <a:extLst>
                  <a:ext uri="{FF2B5EF4-FFF2-40B4-BE49-F238E27FC236}">
                    <a16:creationId xmlns:a16="http://schemas.microsoft.com/office/drawing/2014/main" id="{B94618DB-1549-4E0E-57ED-7EA679A8A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63169"/>
                <a:ext cx="9144000" cy="1570879"/>
              </a:xfrm>
              <a:prstGeom prst="rect">
                <a:avLst/>
              </a:prstGeom>
              <a:blipFill>
                <a:blip r:embed="rId3"/>
                <a:stretch>
                  <a:fillRect t="-2326" b="-5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tăText 7">
                <a:extLst>
                  <a:ext uri="{FF2B5EF4-FFF2-40B4-BE49-F238E27FC236}">
                    <a16:creationId xmlns:a16="http://schemas.microsoft.com/office/drawing/2014/main" id="{94EFE895-38BF-0762-2E04-4A5CE8A55BF3}"/>
                  </a:ext>
                </a:extLst>
              </p:cNvPr>
              <p:cNvSpPr txBox="1"/>
              <p:nvPr/>
            </p:nvSpPr>
            <p:spPr>
              <a:xfrm>
                <a:off x="1398638" y="3974556"/>
                <a:ext cx="6346723" cy="23984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350" marR="171450" indent="450850" algn="ctr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sz="1800" b="1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Legendă</a:t>
                </a:r>
                <a:r>
                  <a:rPr lang="en-GB" sz="1800" b="1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b="1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simboluri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</a:t>
                </a:r>
              </a:p>
              <a:p>
                <a:pPr marL="0" marR="171450" indent="0" algn="just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0" marR="171450" indent="0" algn="just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—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indexul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elementului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din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vectorul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semnal</a:t>
                </a:r>
                <a:endParaRPr lang="en-GB" sz="180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6350" marR="171450" indent="-6350" algn="just">
                  <a:lnSpc>
                    <a:spcPct val="103000"/>
                  </a:lnSpc>
                  <a:spcAft>
                    <a:spcPts val="25"/>
                  </a:spcAft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GB" sz="1800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leakage</m:t>
                        </m:r>
                      </m:e>
                      <m:sub>
                        <m:r>
                          <a:rPr lang="en-GB" sz="1800" i="1" kern="1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  <m:sup/>
                    </m:sSubSup>
                  </m:oMath>
                </a14:m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—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valoarea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elementului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din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semnalul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de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scurgere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diferența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dintre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semnalul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dorit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și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cel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estimat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</a:p>
              <a:p>
                <a:pPr marL="6350" marR="171450" indent="-6350" algn="just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x,y,z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—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valori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ale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semnalelor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în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punctul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pentru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semnalul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original (X),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filtrat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(Y)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și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zgomotos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(Z)</a:t>
                </a:r>
              </a:p>
              <a:p>
                <a:pPr marL="6350" marR="171450" indent="-6350" algn="just">
                  <a:lnSpc>
                    <a:spcPct val="103000"/>
                  </a:lnSpc>
                  <a:spcAft>
                    <a:spcPts val="25"/>
                  </a:spcAft>
                  <a:buNone/>
                </a:pP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∑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​ — operator de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sumă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pe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toate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valorile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GB" sz="1800" kern="1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indexate</a:t>
                </a:r>
                <a:r>
                  <a:rPr lang="en-GB" sz="1800" kern="1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cu </a:t>
                </a:r>
              </a:p>
            </p:txBody>
          </p:sp>
        </mc:Choice>
        <mc:Fallback xmlns="">
          <p:sp>
            <p:nvSpPr>
              <p:cNvPr id="8" name="CasetăText 7">
                <a:extLst>
                  <a:ext uri="{FF2B5EF4-FFF2-40B4-BE49-F238E27FC236}">
                    <a16:creationId xmlns:a16="http://schemas.microsoft.com/office/drawing/2014/main" id="{94EFE895-38BF-0762-2E04-4A5CE8A55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638" y="3974556"/>
                <a:ext cx="6346723" cy="2398477"/>
              </a:xfrm>
              <a:prstGeom prst="rect">
                <a:avLst/>
              </a:prstGeom>
              <a:blipFill>
                <a:blip r:embed="rId4"/>
                <a:stretch>
                  <a:fillRect l="-768" t="-1781" b="-3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2261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1ABF8-716B-60FC-D6BA-FA4A51E09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D6A011E-BFF3-1E95-6411-F405545E5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3. Performante</a:t>
            </a:r>
            <a:endParaRPr lang="ru-RU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C5969D1-4F08-56C2-547E-2086CEEE0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4535487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performanță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filtrare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o-RO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Filtrarea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 a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componentele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frecvență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înaltă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zgomotului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metodele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Wavelet + Wiener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Wavelet Packet au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contribuit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o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rafinare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suplimentară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semnalului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eaLnBrk="1" hangingPunct="1"/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Rezultatul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îmbunătățire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vizibilă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formei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undă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spectrogramelor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semnalul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vocal. </a:t>
            </a:r>
          </a:p>
          <a:p>
            <a:pPr lvl="1" eaLnBrk="1" hangingPunct="1"/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Comparativ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o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filtrare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simplă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tip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trece-jos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abordarea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propusă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dovedește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superioară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combinarea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multor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etape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avansate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procesare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872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D23F6DE-B353-21C9-84FF-76B929C262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3. Performante</a:t>
            </a:r>
            <a:endParaRPr lang="ru-RU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9CA7E40-0ED2-04DF-0368-1479DBB52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4535487"/>
          </a:xfrm>
        </p:spPr>
        <p:txBody>
          <a:bodyPr/>
          <a:lstStyle/>
          <a:p>
            <a:pPr eaLnBrk="1" hangingPunct="1"/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</a:t>
            </a:r>
            <a:r>
              <a:rPr lang="ro-RO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ță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eaLnBrk="1" hangingPunct="1"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Clasificarea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vocilor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curat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filtrat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fost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realizată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(ResNet-50,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SqueezeNet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Comparatie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între CNN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ResNet-50 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obținut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decât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SqueezeNet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pentru clasa zgomotoasă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Acuratețe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85.10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vs 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75.65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Precizie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77.04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vs 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71.07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Sensibilitate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vs 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  <a:p>
            <a:pPr lvl="1" eaLnBrk="1" hangingPunct="1"/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 </a:t>
            </a:r>
            <a:r>
              <a:rPr lang="ro-RO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coeficienți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MFCC din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semnalele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audio,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urmată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clasificare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SVM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Weka</a:t>
            </a: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și am obținut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Acuratețe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35% 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apropiat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 de CNN)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1" hangingPunct="1">
              <a:buNone/>
            </a:pPr>
            <a:endParaRPr lang="en-US" altLang="en-US" sz="2000" dirty="0"/>
          </a:p>
          <a:p>
            <a:pPr lvl="1" eaLnBrk="1" hangingPunct="1"/>
            <a:endParaRPr lang="en-US" altLang="en-US" sz="2000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E38F4-6F24-E6A4-395A-12E73FD2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56B7FBF-CFE1-4922-A8DC-B6FA7089E5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3. Performante</a:t>
            </a:r>
            <a:endParaRPr lang="ru-RU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3839CFC-ECD8-3901-F1F7-01E84B8149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4535487"/>
          </a:xfrm>
        </p:spPr>
        <p:txBody>
          <a:bodyPr/>
          <a:lstStyle/>
          <a:p>
            <a:pPr eaLnBrk="1" hangingPunct="1"/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</a:t>
            </a:r>
            <a:r>
              <a:rPr lang="ro-RO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ță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/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 ales 5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înregistrări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audio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aleatorii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pentru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evalua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numeric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eficiența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filtrării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asupra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semnalelor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vocale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Am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indicatori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importanți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SNR, SLR, SDR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și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similaritatea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cosinus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între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semnalul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filtrat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și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cel original.</a:t>
            </a:r>
            <a:endParaRPr lang="ro-RO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1" indent="0" eaLnBrk="1" hangingPunct="1">
              <a:buNone/>
            </a:pPr>
            <a:endParaRPr lang="ro-RO" sz="1800" kern="1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eaLnBrk="1" hangingPunct="1"/>
            <a:endParaRPr lang="ro-RO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eaLnBrk="1" hangingPunct="1"/>
            <a:endParaRPr lang="ro-RO" sz="1800" kern="1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eaLnBrk="1" hangingPunct="1"/>
            <a:endParaRPr lang="ro-RO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eaLnBrk="1" hangingPunct="1"/>
            <a:endParaRPr lang="ro-RO" sz="1800" kern="1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eaLnBrk="1" hangingPunct="1"/>
            <a:endParaRPr lang="ro-RO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1" indent="0" eaLnBrk="1" hangingPunct="1">
              <a:buNone/>
            </a:pPr>
            <a:endParaRPr lang="ro-RO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eaLnBrk="1" hangingPunct="1"/>
            <a:r>
              <a:rPr lang="ro-RO" sz="18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Î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nregistrările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au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prezentat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îmbunătățiri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o-RO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semnificative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după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filtrare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confirmând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că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metoda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aplicată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reduce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eficient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zgomotul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și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păstrează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fidelitatea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semnalului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audio.</a:t>
            </a:r>
          </a:p>
          <a:p>
            <a:pPr lvl="1" eaLnBrk="1" hangingPunct="1"/>
            <a:endParaRPr lang="ro-RO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eaLnBrk="1" hangingPunct="1"/>
            <a:endParaRPr lang="en-GB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1" indent="0" eaLnBrk="1" hangingPunct="1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1" hangingPunct="1">
              <a:buNone/>
            </a:pPr>
            <a:endParaRPr lang="en-US" altLang="en-US" sz="2000" dirty="0"/>
          </a:p>
          <a:p>
            <a:pPr lvl="1" eaLnBrk="1" hangingPunct="1"/>
            <a:endParaRPr lang="en-US" altLang="en-US" sz="2000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51F34EAC-821B-962A-AD20-EFABF2DFA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404426"/>
              </p:ext>
            </p:extLst>
          </p:nvPr>
        </p:nvGraphicFramePr>
        <p:xfrm>
          <a:off x="304800" y="3667431"/>
          <a:ext cx="8367252" cy="1671485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929418">
                  <a:extLst>
                    <a:ext uri="{9D8B030D-6E8A-4147-A177-3AD203B41FA5}">
                      <a16:colId xmlns:a16="http://schemas.microsoft.com/office/drawing/2014/main" val="3903861477"/>
                    </a:ext>
                  </a:extLst>
                </a:gridCol>
                <a:gridCol w="929418">
                  <a:extLst>
                    <a:ext uri="{9D8B030D-6E8A-4147-A177-3AD203B41FA5}">
                      <a16:colId xmlns:a16="http://schemas.microsoft.com/office/drawing/2014/main" val="3982890757"/>
                    </a:ext>
                  </a:extLst>
                </a:gridCol>
                <a:gridCol w="929418">
                  <a:extLst>
                    <a:ext uri="{9D8B030D-6E8A-4147-A177-3AD203B41FA5}">
                      <a16:colId xmlns:a16="http://schemas.microsoft.com/office/drawing/2014/main" val="1541674740"/>
                    </a:ext>
                  </a:extLst>
                </a:gridCol>
                <a:gridCol w="929418">
                  <a:extLst>
                    <a:ext uri="{9D8B030D-6E8A-4147-A177-3AD203B41FA5}">
                      <a16:colId xmlns:a16="http://schemas.microsoft.com/office/drawing/2014/main" val="350322117"/>
                    </a:ext>
                  </a:extLst>
                </a:gridCol>
                <a:gridCol w="929418">
                  <a:extLst>
                    <a:ext uri="{9D8B030D-6E8A-4147-A177-3AD203B41FA5}">
                      <a16:colId xmlns:a16="http://schemas.microsoft.com/office/drawing/2014/main" val="4202247337"/>
                    </a:ext>
                  </a:extLst>
                </a:gridCol>
                <a:gridCol w="929418">
                  <a:extLst>
                    <a:ext uri="{9D8B030D-6E8A-4147-A177-3AD203B41FA5}">
                      <a16:colId xmlns:a16="http://schemas.microsoft.com/office/drawing/2014/main" val="1270481051"/>
                    </a:ext>
                  </a:extLst>
                </a:gridCol>
                <a:gridCol w="930248">
                  <a:extLst>
                    <a:ext uri="{9D8B030D-6E8A-4147-A177-3AD203B41FA5}">
                      <a16:colId xmlns:a16="http://schemas.microsoft.com/office/drawing/2014/main" val="1731827869"/>
                    </a:ext>
                  </a:extLst>
                </a:gridCol>
                <a:gridCol w="930248">
                  <a:extLst>
                    <a:ext uri="{9D8B030D-6E8A-4147-A177-3AD203B41FA5}">
                      <a16:colId xmlns:a16="http://schemas.microsoft.com/office/drawing/2014/main" val="924171194"/>
                    </a:ext>
                  </a:extLst>
                </a:gridCol>
                <a:gridCol w="930248">
                  <a:extLst>
                    <a:ext uri="{9D8B030D-6E8A-4147-A177-3AD203B41FA5}">
                      <a16:colId xmlns:a16="http://schemas.microsoft.com/office/drawing/2014/main" val="216948579"/>
                    </a:ext>
                  </a:extLst>
                </a:gridCol>
              </a:tblGrid>
              <a:tr h="62681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br>
                        <a:rPr lang="ro-RO" sz="800" kern="100" dirty="0">
                          <a:effectLst/>
                        </a:rPr>
                      </a:br>
                      <a:br>
                        <a:rPr lang="ro-RO" sz="800" kern="100" dirty="0">
                          <a:effectLst/>
                        </a:rPr>
                      </a:br>
                      <a:r>
                        <a:rPr lang="en-US" sz="800" kern="100" dirty="0">
                          <a:effectLst/>
                        </a:rPr>
                        <a:t>Fi</a:t>
                      </a:r>
                      <a:r>
                        <a:rPr lang="ro-RO" sz="800" kern="100" dirty="0" err="1">
                          <a:effectLst/>
                        </a:rPr>
                        <a:t>șier</a:t>
                      </a:r>
                      <a:endParaRPr lang="en-GB" sz="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br>
                        <a:rPr lang="ro-RO" sz="800" kern="100" dirty="0">
                          <a:effectLst/>
                        </a:rPr>
                      </a:br>
                      <a:br>
                        <a:rPr lang="ro-RO" sz="800" kern="100" dirty="0">
                          <a:effectLst/>
                        </a:rPr>
                      </a:br>
                      <a:r>
                        <a:rPr lang="en-GB" sz="800" kern="100" dirty="0">
                          <a:effectLst/>
                        </a:rPr>
                        <a:t>SNR </a:t>
                      </a:r>
                      <a:r>
                        <a:rPr lang="en-GB" sz="800" kern="100" dirty="0" err="1">
                          <a:effectLst/>
                        </a:rPr>
                        <a:t>zgomotos</a:t>
                      </a:r>
                      <a:r>
                        <a:rPr lang="en-GB" sz="800" kern="100" dirty="0">
                          <a:effectLst/>
                        </a:rPr>
                        <a:t> (dB)</a:t>
                      </a:r>
                      <a:endParaRPr lang="en-GB" sz="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br>
                        <a:rPr lang="ro-RO" sz="800" kern="100" dirty="0">
                          <a:effectLst/>
                        </a:rPr>
                      </a:br>
                      <a:br>
                        <a:rPr lang="ro-RO" sz="800" kern="100" dirty="0">
                          <a:effectLst/>
                        </a:rPr>
                      </a:br>
                      <a:r>
                        <a:rPr lang="en-US" sz="800" kern="100" dirty="0">
                          <a:effectLst/>
                        </a:rPr>
                        <a:t>SNR </a:t>
                      </a:r>
                      <a:r>
                        <a:rPr lang="en-US" sz="800" kern="100" dirty="0" err="1">
                          <a:effectLst/>
                        </a:rPr>
                        <a:t>filtrat</a:t>
                      </a:r>
                      <a:r>
                        <a:rPr lang="en-US" sz="800" kern="100" dirty="0">
                          <a:effectLst/>
                        </a:rPr>
                        <a:t> (dB)</a:t>
                      </a:r>
                      <a:endParaRPr lang="en-GB" sz="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br>
                        <a:rPr lang="ro-RO" sz="800" kern="100" dirty="0">
                          <a:effectLst/>
                        </a:rPr>
                      </a:br>
                      <a:br>
                        <a:rPr lang="ro-RO" sz="800" kern="100" dirty="0">
                          <a:effectLst/>
                        </a:rPr>
                      </a:br>
                      <a:r>
                        <a:rPr lang="en-US" sz="800" kern="100" dirty="0">
                          <a:effectLst/>
                        </a:rPr>
                        <a:t>SLR </a:t>
                      </a:r>
                      <a:r>
                        <a:rPr lang="en-US" sz="800" kern="100" dirty="0" err="1">
                          <a:effectLst/>
                        </a:rPr>
                        <a:t>zgomotos</a:t>
                      </a:r>
                      <a:r>
                        <a:rPr lang="en-US" sz="800" kern="100" dirty="0">
                          <a:effectLst/>
                        </a:rPr>
                        <a:t> (dB)</a:t>
                      </a:r>
                      <a:endParaRPr lang="en-GB" sz="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br>
                        <a:rPr lang="ro-RO" sz="800" kern="100" dirty="0">
                          <a:effectLst/>
                        </a:rPr>
                      </a:br>
                      <a:br>
                        <a:rPr lang="ro-RO" sz="800" kern="100" dirty="0">
                          <a:effectLst/>
                        </a:rPr>
                      </a:br>
                      <a:r>
                        <a:rPr lang="en-US" sz="800" kern="100" dirty="0">
                          <a:effectLst/>
                        </a:rPr>
                        <a:t>SLR </a:t>
                      </a:r>
                      <a:r>
                        <a:rPr lang="en-US" sz="800" kern="100" dirty="0" err="1">
                          <a:effectLst/>
                        </a:rPr>
                        <a:t>filtrat</a:t>
                      </a:r>
                      <a:r>
                        <a:rPr lang="en-US" sz="800" kern="100" dirty="0">
                          <a:effectLst/>
                        </a:rPr>
                        <a:t> (dB)</a:t>
                      </a:r>
                      <a:endParaRPr lang="en-GB" sz="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br>
                        <a:rPr lang="ro-RO" sz="800" kern="100" dirty="0">
                          <a:effectLst/>
                        </a:rPr>
                      </a:br>
                      <a:br>
                        <a:rPr lang="ro-RO" sz="800" kern="100" dirty="0">
                          <a:effectLst/>
                        </a:rPr>
                      </a:br>
                      <a:r>
                        <a:rPr lang="en-US" sz="800" kern="100" dirty="0">
                          <a:effectLst/>
                        </a:rPr>
                        <a:t>SDR </a:t>
                      </a:r>
                      <a:r>
                        <a:rPr lang="en-US" sz="800" kern="100" dirty="0" err="1">
                          <a:effectLst/>
                        </a:rPr>
                        <a:t>zgomotos</a:t>
                      </a:r>
                      <a:r>
                        <a:rPr lang="en-US" sz="800" kern="100" dirty="0">
                          <a:effectLst/>
                        </a:rPr>
                        <a:t> (dB)</a:t>
                      </a:r>
                      <a:endParaRPr lang="en-GB" sz="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br>
                        <a:rPr lang="ro-RO" sz="800" kern="100" dirty="0">
                          <a:effectLst/>
                        </a:rPr>
                      </a:br>
                      <a:br>
                        <a:rPr lang="ro-RO" sz="800" kern="100" dirty="0">
                          <a:effectLst/>
                        </a:rPr>
                      </a:br>
                      <a:r>
                        <a:rPr lang="en-US" sz="800" kern="100" dirty="0">
                          <a:effectLst/>
                        </a:rPr>
                        <a:t>SDR </a:t>
                      </a:r>
                      <a:r>
                        <a:rPr lang="en-US" sz="800" kern="100" dirty="0" err="1">
                          <a:effectLst/>
                        </a:rPr>
                        <a:t>filtrat</a:t>
                      </a:r>
                      <a:r>
                        <a:rPr lang="en-US" sz="800" kern="100" dirty="0">
                          <a:effectLst/>
                        </a:rPr>
                        <a:t> (dB)</a:t>
                      </a:r>
                      <a:endParaRPr lang="en-GB" sz="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br>
                        <a:rPr lang="ro-RO" sz="800" kern="100" dirty="0">
                          <a:effectLst/>
                        </a:rPr>
                      </a:br>
                      <a:br>
                        <a:rPr lang="ro-RO" sz="800" kern="100" dirty="0">
                          <a:effectLst/>
                        </a:rPr>
                      </a:br>
                      <a:r>
                        <a:rPr lang="en-US" sz="800" kern="100" dirty="0" err="1">
                          <a:effectLst/>
                        </a:rPr>
                        <a:t>Similaritate</a:t>
                      </a:r>
                      <a:r>
                        <a:rPr lang="en-US" sz="800" kern="100" dirty="0">
                          <a:effectLst/>
                        </a:rPr>
                        <a:t> </a:t>
                      </a:r>
                      <a:r>
                        <a:rPr lang="en-US" sz="800" kern="100" dirty="0" err="1">
                          <a:effectLst/>
                        </a:rPr>
                        <a:t>cosinus</a:t>
                      </a:r>
                      <a:endParaRPr lang="en-GB" sz="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br>
                        <a:rPr lang="ro-RO" sz="800" kern="100" dirty="0">
                          <a:effectLst/>
                        </a:rPr>
                      </a:br>
                      <a:br>
                        <a:rPr lang="ro-RO" sz="800" kern="100" dirty="0">
                          <a:effectLst/>
                        </a:rPr>
                      </a:br>
                      <a:r>
                        <a:rPr lang="en-US" sz="800" kern="100" dirty="0" err="1">
                          <a:effectLst/>
                        </a:rPr>
                        <a:t>Eficiența</a:t>
                      </a:r>
                      <a:r>
                        <a:rPr lang="en-US" sz="800" kern="100" dirty="0">
                          <a:effectLst/>
                        </a:rPr>
                        <a:t> </a:t>
                      </a:r>
                      <a:r>
                        <a:rPr lang="en-US" sz="800" kern="100" dirty="0" err="1">
                          <a:effectLst/>
                        </a:rPr>
                        <a:t>filtrării</a:t>
                      </a:r>
                      <a:r>
                        <a:rPr lang="en-US" sz="800" kern="100" dirty="0">
                          <a:effectLst/>
                        </a:rPr>
                        <a:t> (%)</a:t>
                      </a:r>
                      <a:endParaRPr lang="en-GB" sz="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3989578"/>
                  </a:ext>
                </a:extLst>
              </a:tr>
              <a:tr h="208935"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GB" sz="800" kern="100">
                          <a:effectLst/>
                        </a:rPr>
                        <a:t>617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GB" sz="800" kern="100">
                          <a:effectLst/>
                        </a:rPr>
                        <a:t>2.20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6.48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5.72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7.96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0.99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0.59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0.9424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66.52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828118"/>
                  </a:ext>
                </a:extLst>
              </a:tr>
              <a:tr h="208935"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GB" sz="800" kern="100">
                          <a:effectLst/>
                        </a:rPr>
                        <a:t>203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GB" sz="800" kern="100">
                          <a:effectLst/>
                        </a:rPr>
                        <a:t>6.66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8.28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8.30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 dirty="0">
                          <a:effectLst/>
                        </a:rPr>
                        <a:t>9.30</a:t>
                      </a:r>
                      <a:endParaRPr lang="en-GB" sz="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1.01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0.85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0.9830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80.88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9919883"/>
                  </a:ext>
                </a:extLst>
              </a:tr>
              <a:tr h="208935"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GB" sz="800" kern="100">
                          <a:effectLst/>
                        </a:rPr>
                        <a:t>535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GB" sz="800" kern="100">
                          <a:effectLst/>
                        </a:rPr>
                        <a:t>5.61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7.83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7.87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 dirty="0">
                          <a:effectLst/>
                        </a:rPr>
                        <a:t>9.19</a:t>
                      </a:r>
                      <a:endParaRPr lang="en-GB" sz="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0.39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0.20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0.9732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75.80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5899742"/>
                  </a:ext>
                </a:extLst>
              </a:tr>
              <a:tr h="208935"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GB" sz="800" kern="100">
                          <a:effectLst/>
                        </a:rPr>
                        <a:t>325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4.65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8.93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7.22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9.58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1.03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1.15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0.9471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85.86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3306510"/>
                  </a:ext>
                </a:extLst>
              </a:tr>
              <a:tr h="208935"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GB" sz="800" kern="100">
                          <a:effectLst/>
                        </a:rPr>
                        <a:t>321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2.93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7.60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6.18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8.97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0.64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0.47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>
                          <a:effectLst/>
                        </a:rPr>
                        <a:t>0.9464</a:t>
                      </a:r>
                      <a:endParaRPr lang="en-GB" sz="800" kern="1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>
                        <a:spcBef>
                          <a:spcPts val="400"/>
                        </a:spcBef>
                        <a:spcAft>
                          <a:spcPts val="1000"/>
                        </a:spcAft>
                        <a:buNone/>
                        <a:tabLst>
                          <a:tab pos="338455" algn="l"/>
                        </a:tabLst>
                      </a:pPr>
                      <a:r>
                        <a:rPr lang="en-US" sz="800" kern="100" dirty="0">
                          <a:effectLst/>
                        </a:rPr>
                        <a:t>74.96</a:t>
                      </a:r>
                      <a:endParaRPr lang="en-GB" sz="8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5153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8571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35D6140-FDA1-FC84-7168-1DF7CA239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4. Demo</a:t>
            </a:r>
            <a:endParaRPr lang="ru-RU" alt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390875E-5C68-5831-ECF6-14F05D6F20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4535487"/>
          </a:xfrm>
        </p:spPr>
        <p:txBody>
          <a:bodyPr/>
          <a:lstStyle/>
          <a:p>
            <a:pPr eaLnBrk="1" hangingPunct="1"/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Proiectul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demonstrat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filtrarea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zgomotului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fundal din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semnalul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vocal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realizată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combinație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tradiționale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(FIR, Wavelet, Wiener)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învățare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(CNN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extracția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coeficienților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MFCC din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semnalele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audio,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urmată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clasificare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SVM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Weka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eaLnBrk="1" hangingPunct="1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Filtrele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contribuit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reducerea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zgomotului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clasificarea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eficiența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filtrării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mod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spectrogramelor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vocale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1" hangingPunct="1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Rețelele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(ResNet-50,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SqueezeNet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au extras 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și clasificat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trăsături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relevante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semnalul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clasificatorii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SVM au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oferit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robuste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cu o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acuratețe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până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87,35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diferențierea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vocilor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curate</a:t>
            </a:r>
            <a:r>
              <a:rPr lang="ro-RO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filtrate.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387AA-860D-AFE9-3B17-F7F71378F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0584D89-9AB9-CDEE-5F11-96C662E83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4. Demo</a:t>
            </a:r>
            <a:endParaRPr lang="ru-RU" alt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2E48E58-4E91-C9D7-88EA-7388770C36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4535487"/>
          </a:xfrm>
        </p:spPr>
        <p:txBody>
          <a:bodyPr/>
          <a:lstStyle/>
          <a:p>
            <a:pPr eaLnBrk="1" hangingPunct="1"/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Scriptul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automatizează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testarea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fișierelor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filtrate,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generează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comparative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integrarea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ușoară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(call centers,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recunoaștere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vocală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aplicații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mobile).</a:t>
            </a:r>
          </a:p>
          <a:p>
            <a:pPr marL="0" indent="0" eaLnBrk="1" hangingPunct="1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ansamblu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proiectul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oferă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scalabilă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inteligentă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evaluarea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îmbunătățirea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calității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vocii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zgomotoase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59447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2896018-AF9D-93DA-24DC-DD5A59F45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5. </a:t>
            </a:r>
            <a:r>
              <a:rPr lang="en-US" altLang="en-US" dirty="0" err="1"/>
              <a:t>Intrebari</a:t>
            </a:r>
            <a:r>
              <a:rPr lang="en-US" altLang="en-US" dirty="0"/>
              <a:t> recapitulative</a:t>
            </a:r>
            <a:endParaRPr lang="ru-RU" altLang="en-US" dirty="0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1440C63-7201-4EED-53C5-D1814D79C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4535487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Care sunt </a:t>
            </a:r>
            <a:r>
              <a:rPr lang="en-US" altLang="en-US" sz="2200" dirty="0" err="1"/>
              <a:t>diferențele</a:t>
            </a:r>
            <a:r>
              <a:rPr lang="en-US" altLang="en-US" sz="2200" dirty="0"/>
              <a:t> </a:t>
            </a:r>
            <a:r>
              <a:rPr lang="en-US" altLang="en-US" sz="2200" dirty="0" err="1"/>
              <a:t>principale</a:t>
            </a:r>
            <a:r>
              <a:rPr lang="en-US" altLang="en-US" sz="2200" dirty="0"/>
              <a:t> </a:t>
            </a:r>
            <a:r>
              <a:rPr lang="en-US" altLang="en-US" sz="2200" dirty="0" err="1"/>
              <a:t>între</a:t>
            </a:r>
            <a:r>
              <a:rPr lang="en-US" altLang="en-US" sz="2200" dirty="0"/>
              <a:t> </a:t>
            </a:r>
            <a:r>
              <a:rPr lang="en-US" altLang="en-US" sz="2200" dirty="0" err="1"/>
              <a:t>rețelele</a:t>
            </a:r>
            <a:r>
              <a:rPr lang="en-US" altLang="en-US" sz="2200" dirty="0"/>
              <a:t> ResNet-50 </a:t>
            </a:r>
            <a:r>
              <a:rPr lang="en-US" altLang="en-US" sz="2200" dirty="0" err="1"/>
              <a:t>și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SqueezeNet</a:t>
            </a:r>
            <a:r>
              <a:rPr lang="en-US" altLang="en-US" sz="2200" dirty="0"/>
              <a:t> </a:t>
            </a:r>
            <a:r>
              <a:rPr lang="en-US" altLang="en-US" sz="2200" dirty="0" err="1"/>
              <a:t>în</a:t>
            </a:r>
            <a:r>
              <a:rPr lang="en-US" altLang="en-US" sz="2200" dirty="0"/>
              <a:t> </a:t>
            </a:r>
            <a:r>
              <a:rPr lang="en-US" altLang="en-US" sz="2200" dirty="0" err="1"/>
              <a:t>ceea</a:t>
            </a:r>
            <a:r>
              <a:rPr lang="en-US" altLang="en-US" sz="2200" dirty="0"/>
              <a:t> </a:t>
            </a:r>
            <a:r>
              <a:rPr lang="en-US" altLang="en-US" sz="2200" dirty="0" err="1"/>
              <a:t>ce</a:t>
            </a:r>
            <a:r>
              <a:rPr lang="en-US" altLang="en-US" sz="2200" dirty="0"/>
              <a:t> </a:t>
            </a:r>
            <a:r>
              <a:rPr lang="en-US" altLang="en-US" sz="2200" dirty="0" err="1"/>
              <a:t>privește</a:t>
            </a:r>
            <a:r>
              <a:rPr lang="en-US" altLang="en-US" sz="2200" dirty="0"/>
              <a:t> </a:t>
            </a:r>
            <a:r>
              <a:rPr lang="en-US" altLang="en-US" sz="2200" dirty="0" err="1"/>
              <a:t>performanța</a:t>
            </a:r>
            <a:r>
              <a:rPr lang="en-US" altLang="en-US" sz="2200" dirty="0"/>
              <a:t> </a:t>
            </a:r>
            <a:r>
              <a:rPr lang="en-US" altLang="en-US" sz="2200" dirty="0" err="1"/>
              <a:t>și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resursele</a:t>
            </a:r>
            <a:r>
              <a:rPr lang="en-US" altLang="en-US" sz="2200" dirty="0"/>
              <a:t> </a:t>
            </a:r>
            <a:r>
              <a:rPr lang="en-US" altLang="en-US" sz="2200" dirty="0" err="1"/>
              <a:t>consumate</a:t>
            </a:r>
            <a:r>
              <a:rPr lang="en-US" altLang="en-US" sz="2200" dirty="0"/>
              <a:t>?</a:t>
            </a:r>
          </a:p>
          <a:p>
            <a:pPr eaLnBrk="1" hangingPunct="1"/>
            <a:r>
              <a:rPr lang="en-US" altLang="en-US" sz="2200" dirty="0"/>
              <a:t>Care sunt </a:t>
            </a:r>
            <a:r>
              <a:rPr lang="en-US" altLang="en-US" sz="2200" dirty="0" err="1"/>
              <a:t>cele</a:t>
            </a:r>
            <a:r>
              <a:rPr lang="en-US" altLang="en-US" sz="2200" dirty="0"/>
              <a:t> </a:t>
            </a:r>
            <a:r>
              <a:rPr lang="en-US" altLang="en-US" sz="2200" dirty="0" err="1"/>
              <a:t>trei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clase</a:t>
            </a:r>
            <a:r>
              <a:rPr lang="en-US" altLang="en-US" sz="2200" dirty="0"/>
              <a:t> definite </a:t>
            </a:r>
            <a:r>
              <a:rPr lang="en-US" altLang="en-US" sz="2200" dirty="0" err="1"/>
              <a:t>pentru</a:t>
            </a:r>
            <a:r>
              <a:rPr lang="en-US" altLang="en-US" sz="2200" dirty="0"/>
              <a:t> </a:t>
            </a:r>
            <a:r>
              <a:rPr lang="en-US" altLang="en-US" sz="2200" dirty="0" err="1"/>
              <a:t>clasificarea</a:t>
            </a:r>
            <a:r>
              <a:rPr lang="en-US" altLang="en-US" sz="2200" dirty="0"/>
              <a:t> </a:t>
            </a:r>
            <a:r>
              <a:rPr lang="en-US" altLang="en-US" sz="2200" dirty="0" err="1"/>
              <a:t>automată</a:t>
            </a:r>
            <a:r>
              <a:rPr lang="en-US" altLang="en-US" sz="2200" dirty="0"/>
              <a:t> a </a:t>
            </a:r>
            <a:r>
              <a:rPr lang="en-US" altLang="en-US" sz="2200" dirty="0" err="1"/>
              <a:t>semnalelor</a:t>
            </a:r>
            <a:r>
              <a:rPr lang="en-US" altLang="en-US" sz="2200" dirty="0"/>
              <a:t> audio?</a:t>
            </a:r>
          </a:p>
          <a:p>
            <a:pPr eaLnBrk="1" hangingPunct="1"/>
            <a:r>
              <a:rPr lang="en-US" altLang="en-US" sz="2200" dirty="0"/>
              <a:t>Cum a </a:t>
            </a:r>
            <a:r>
              <a:rPr lang="en-US" altLang="en-US" sz="2200" dirty="0" err="1"/>
              <a:t>fost</a:t>
            </a:r>
            <a:r>
              <a:rPr lang="en-US" altLang="en-US" sz="2200" dirty="0"/>
              <a:t> </a:t>
            </a:r>
            <a:r>
              <a:rPr lang="en-US" altLang="en-US" sz="2200" dirty="0" err="1"/>
              <a:t>aplicat</a:t>
            </a:r>
            <a:r>
              <a:rPr lang="en-US" altLang="en-US" sz="2200" dirty="0"/>
              <a:t> </a:t>
            </a:r>
            <a:r>
              <a:rPr lang="en-US" altLang="en-US" sz="2200" dirty="0" err="1"/>
              <a:t>clasificatorul</a:t>
            </a:r>
            <a:r>
              <a:rPr lang="en-US" altLang="en-US" sz="2200" dirty="0"/>
              <a:t> SVM pe </a:t>
            </a:r>
            <a:r>
              <a:rPr lang="en-US" altLang="en-US" sz="2200" dirty="0" err="1"/>
              <a:t>caracteristicile</a:t>
            </a:r>
            <a:r>
              <a:rPr lang="en-US" altLang="en-US" sz="2200" dirty="0"/>
              <a:t> MFCC </a:t>
            </a:r>
            <a:r>
              <a:rPr lang="en-US" altLang="en-US" sz="2200" dirty="0" err="1"/>
              <a:t>extrase</a:t>
            </a:r>
            <a:r>
              <a:rPr lang="en-US" altLang="en-US" sz="2200" dirty="0"/>
              <a:t>, </a:t>
            </a:r>
            <a:r>
              <a:rPr lang="en-US" altLang="en-US" sz="2200" dirty="0" err="1"/>
              <a:t>și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ce</a:t>
            </a:r>
            <a:r>
              <a:rPr lang="en-US" altLang="en-US" sz="2200" dirty="0"/>
              <a:t> </a:t>
            </a:r>
            <a:r>
              <a:rPr lang="en-US" altLang="en-US" sz="2200" dirty="0" err="1"/>
              <a:t>rol</a:t>
            </a:r>
            <a:r>
              <a:rPr lang="en-US" altLang="en-US" sz="2200" dirty="0"/>
              <a:t> a </a:t>
            </a:r>
            <a:r>
              <a:rPr lang="en-US" altLang="en-US" sz="2200" dirty="0" err="1"/>
              <a:t>avut</a:t>
            </a:r>
            <a:r>
              <a:rPr lang="en-US" altLang="en-US" sz="2200" dirty="0"/>
              <a:t> Weka </a:t>
            </a:r>
            <a:r>
              <a:rPr lang="en-US" altLang="en-US" sz="2200" dirty="0" err="1"/>
              <a:t>în</a:t>
            </a:r>
            <a:r>
              <a:rPr lang="en-US" altLang="en-US" sz="2200" dirty="0"/>
              <a:t> </a:t>
            </a:r>
            <a:r>
              <a:rPr lang="en-US" altLang="en-US" sz="2200" dirty="0" err="1"/>
              <a:t>acest</a:t>
            </a:r>
            <a:r>
              <a:rPr lang="en-US" altLang="en-US" sz="2200" dirty="0"/>
              <a:t> </a:t>
            </a:r>
            <a:r>
              <a:rPr lang="en-US" altLang="en-US" sz="2200" dirty="0" err="1"/>
              <a:t>proces</a:t>
            </a:r>
            <a:r>
              <a:rPr lang="en-US" altLang="en-US" sz="2200" dirty="0"/>
              <a:t>?</a:t>
            </a:r>
          </a:p>
          <a:p>
            <a:pPr eaLnBrk="1" hangingPunct="1"/>
            <a:r>
              <a:rPr lang="en-US" altLang="en-US" sz="2200" dirty="0"/>
              <a:t>Cum a </a:t>
            </a:r>
            <a:r>
              <a:rPr lang="en-US" altLang="en-US" sz="2200" dirty="0" err="1"/>
              <a:t>fost</a:t>
            </a:r>
            <a:r>
              <a:rPr lang="en-US" altLang="en-US" sz="2200" dirty="0"/>
              <a:t> </a:t>
            </a:r>
            <a:r>
              <a:rPr lang="en-US" altLang="en-US" sz="2200" dirty="0" err="1"/>
              <a:t>aleasă</a:t>
            </a:r>
            <a:r>
              <a:rPr lang="en-US" altLang="en-US" sz="2200" dirty="0"/>
              <a:t> formula </a:t>
            </a:r>
            <a:r>
              <a:rPr lang="en-US" altLang="en-US" sz="2200" dirty="0" err="1"/>
              <a:t>pentru</a:t>
            </a:r>
            <a:r>
              <a:rPr lang="en-US" altLang="en-US" sz="2200" dirty="0"/>
              <a:t> </a:t>
            </a:r>
            <a:r>
              <a:rPr lang="en-US" altLang="en-US" sz="2200" dirty="0" err="1"/>
              <a:t>calculul</a:t>
            </a:r>
            <a:r>
              <a:rPr lang="en-US" altLang="en-US" sz="2200" dirty="0"/>
              <a:t> </a:t>
            </a:r>
            <a:r>
              <a:rPr lang="en-US" altLang="en-US" sz="2200" dirty="0" err="1"/>
              <a:t>eficienței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filtrării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și</a:t>
            </a:r>
            <a:r>
              <a:rPr lang="en-US" altLang="en-US" sz="2200" dirty="0"/>
              <a:t> de </a:t>
            </a:r>
            <a:r>
              <a:rPr lang="en-US" altLang="en-US" sz="2200" dirty="0" err="1"/>
              <a:t>ce</a:t>
            </a:r>
            <a:r>
              <a:rPr lang="en-US" altLang="en-US" sz="2200" dirty="0"/>
              <a:t> s-au </a:t>
            </a:r>
            <a:r>
              <a:rPr lang="en-US" altLang="en-US" sz="2200" dirty="0" err="1"/>
              <a:t>folosit</a:t>
            </a:r>
            <a:r>
              <a:rPr lang="en-US" altLang="en-US" sz="2200" dirty="0"/>
              <a:t> </a:t>
            </a:r>
            <a:r>
              <a:rPr lang="en-US" altLang="en-US" sz="2200" dirty="0" err="1"/>
              <a:t>acești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termeni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și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ponderi</a:t>
            </a:r>
            <a:r>
              <a:rPr lang="en-US" altLang="en-US" sz="2200" dirty="0"/>
              <a:t>?</a:t>
            </a:r>
          </a:p>
          <a:p>
            <a:pPr eaLnBrk="1" hangingPunct="1"/>
            <a:r>
              <a:rPr lang="en-US" altLang="en-US" sz="2200" dirty="0"/>
              <a:t>De </a:t>
            </a:r>
            <a:r>
              <a:rPr lang="en-US" altLang="en-US" sz="2200" dirty="0" err="1"/>
              <a:t>ce</a:t>
            </a:r>
            <a:r>
              <a:rPr lang="en-US" altLang="en-US" sz="2200" dirty="0"/>
              <a:t> s-a ales o </a:t>
            </a:r>
            <a:r>
              <a:rPr lang="en-US" altLang="en-US" sz="2200" dirty="0" err="1"/>
              <a:t>metodă</a:t>
            </a:r>
            <a:r>
              <a:rPr lang="en-US" altLang="en-US" sz="2200" dirty="0"/>
              <a:t> </a:t>
            </a:r>
            <a:r>
              <a:rPr lang="en-US" altLang="en-US" sz="2200" dirty="0" err="1"/>
              <a:t>complexă</a:t>
            </a:r>
            <a:r>
              <a:rPr lang="en-US" altLang="en-US" sz="2200" dirty="0"/>
              <a:t> de </a:t>
            </a:r>
            <a:r>
              <a:rPr lang="en-US" altLang="en-US" sz="2200" dirty="0" err="1"/>
              <a:t>filtrare</a:t>
            </a:r>
            <a:r>
              <a:rPr lang="en-US" altLang="en-US" sz="2200" dirty="0"/>
              <a:t> </a:t>
            </a:r>
            <a:r>
              <a:rPr lang="en-US" altLang="en-US" sz="2200" dirty="0" err="1"/>
              <a:t>în</a:t>
            </a:r>
            <a:r>
              <a:rPr lang="en-US" altLang="en-US" sz="2200" dirty="0"/>
              <a:t> </a:t>
            </a:r>
            <a:r>
              <a:rPr lang="en-US" altLang="en-US" sz="2200" dirty="0" err="1"/>
              <a:t>locul</a:t>
            </a:r>
            <a:r>
              <a:rPr lang="en-US" altLang="en-US" sz="2200" dirty="0"/>
              <a:t> </a:t>
            </a:r>
            <a:r>
              <a:rPr lang="en-US" altLang="en-US" sz="2200" dirty="0" err="1"/>
              <a:t>aplicării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unor</a:t>
            </a:r>
            <a:r>
              <a:rPr lang="en-US" altLang="en-US" sz="2200" dirty="0"/>
              <a:t> </a:t>
            </a:r>
            <a:r>
              <a:rPr lang="en-US" altLang="en-US" sz="2200" dirty="0" err="1"/>
              <a:t>filtre</a:t>
            </a:r>
            <a:r>
              <a:rPr lang="en-US" altLang="en-US" sz="2200" dirty="0"/>
              <a:t> simple </a:t>
            </a:r>
            <a:r>
              <a:rPr lang="en-US" altLang="en-US" sz="2200" dirty="0" err="1"/>
              <a:t>pentru</a:t>
            </a:r>
            <a:r>
              <a:rPr lang="en-US" altLang="en-US" sz="2200" dirty="0"/>
              <a:t> </a:t>
            </a:r>
            <a:r>
              <a:rPr lang="en-US" altLang="en-US" sz="2200" dirty="0" err="1"/>
              <a:t>reducerea</a:t>
            </a:r>
            <a:r>
              <a:rPr lang="en-US" altLang="en-US" sz="2200" dirty="0"/>
              <a:t> </a:t>
            </a:r>
            <a:r>
              <a:rPr lang="en-US" altLang="en-US" sz="2200" dirty="0" err="1"/>
              <a:t>zgomotului</a:t>
            </a:r>
            <a:r>
              <a:rPr lang="en-US" altLang="en-US" sz="2200" dirty="0"/>
              <a:t> </a:t>
            </a:r>
            <a:r>
              <a:rPr lang="en-US" altLang="en-US" sz="2200" dirty="0" err="1"/>
              <a:t>în</a:t>
            </a:r>
            <a:r>
              <a:rPr lang="en-US" altLang="en-US" sz="2200" dirty="0"/>
              <a:t> </a:t>
            </a:r>
            <a:r>
              <a:rPr lang="en-US" altLang="en-US" sz="2200" dirty="0" err="1"/>
              <a:t>semnalul</a:t>
            </a:r>
            <a:r>
              <a:rPr lang="en-US" altLang="en-US" sz="2200" dirty="0"/>
              <a:t> vocal?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BBAA526-582A-5000-4F48-F31700725B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6. Bibliografie</a:t>
            </a:r>
            <a:endParaRPr lang="ru-RU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334D50E-FF7F-0552-00A1-BEA9D0E7D9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6856" y="1773873"/>
            <a:ext cx="8650288" cy="4535487"/>
          </a:xfrm>
        </p:spPr>
        <p:txBody>
          <a:bodyPr/>
          <a:lstStyle/>
          <a:p>
            <a:pPr eaLnBrk="1" hangingPunct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	M. Kolbæk, D. Yu, Z.-H. Tan, and J. Jensen, “Speech enhancement using long short-term memory based recurrent neural networks for noise robust speaker verification,” IEEE/ACM Transactions on Audio, Speech, and Language Processing, vol. 25, no. 12, pp. 2452–2461, Dec. 2017.</a:t>
            </a:r>
          </a:p>
          <a:p>
            <a:pPr eaLnBrk="1" hangingPunct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	P. C. Loizou, Speech Enhancement: Theory and Practice, CRC Press, 2013.</a:t>
            </a:r>
          </a:p>
          <a:p>
            <a:pPr eaLnBrk="1" hangingPunct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	Y. Xu, J. Du, L. R. Dai, and C. H. Lee, “A regression approach to speech enhancement based on deep neural networks,” IEEE/ACM Trans. on Audio, Speech, and Language Processing, vol. 23, no. 1, pp. 7–19, Jan. 2015. </a:t>
            </a:r>
          </a:p>
          <a:p>
            <a:pPr eaLnBrk="1" hangingPunct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	D. Bagchi, S. Mandal, M. S. Chavan, and A. Basu, “Real-Time Noise Reduction in Audio Signals Using Convolutional Neural Networks,” AIP Conference Proceedings, vol. 2845, no. 1, 2024</a:t>
            </a:r>
          </a:p>
          <a:p>
            <a:pPr eaLnBrk="1" hangingPunct="1"/>
            <a:endParaRPr lang="ro-RO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1F48A-392B-E45F-5AA5-407DC539D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6393367-723D-A3D3-751F-4AAF3F226C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6. Bibliografie</a:t>
            </a:r>
            <a:endParaRPr lang="ru-RU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AE6F787-D9FD-7268-8AA8-E140130049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6080" y="2108200"/>
            <a:ext cx="8650288" cy="4535487"/>
          </a:xfrm>
        </p:spPr>
        <p:txBody>
          <a:bodyPr/>
          <a:lstStyle/>
          <a:p>
            <a:pPr eaLnBrk="1" hangingPunct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	A. Pandey and D. Wang, “Dense CNNs for speech enhancement in adverse environments,” IEEE/ACM Trans. on Audio, Speech, and Language Processing, vol. 28, pp. 497–507, 2020.</a:t>
            </a:r>
          </a:p>
          <a:p>
            <a:pPr eaLnBrk="1" hangingPunct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	H. Hu and J. Tao, “Deep Learning-Based Noise Filtering for Cochlear Implant Users,” Ear and Hearing, vol. 39, no. 6, pp. 1112–1121, 2018.</a:t>
            </a:r>
          </a:p>
          <a:p>
            <a:pPr eaLnBrk="1" hangingPunct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	F.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Grzeszick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“Comparison of Pre-Trained CNNs for Audio Classification Using Spectrograms,” Journal of Sensor and Actuator Networks, vol. 10, no. 4, 2021.</a:t>
            </a:r>
          </a:p>
          <a:p>
            <a:pPr eaLnBrk="1" hangingPunct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	A. S. Wani et al., “Feature Extraction Using GTCC Spectrogram and ResNet50 Based Classification for Audio Spoof Detection,” International Journal of Speech Technology, 2024.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462963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8A205F972A7545BC56897053B859AA" ma:contentTypeVersion="9" ma:contentTypeDescription="Create a new document." ma:contentTypeScope="" ma:versionID="867458bbd3830a007cf7a2b3ec6fc910">
  <xsd:schema xmlns:xsd="http://www.w3.org/2001/XMLSchema" xmlns:xs="http://www.w3.org/2001/XMLSchema" xmlns:p="http://schemas.microsoft.com/office/2006/metadata/properties" xmlns:ns2="f20031e4-83cd-467b-b13d-7033fb67d7be" targetNamespace="http://schemas.microsoft.com/office/2006/metadata/properties" ma:root="true" ma:fieldsID="0e8c065670857803dc7bfc1d928ef347" ns2:_="">
    <xsd:import namespace="f20031e4-83cd-467b-b13d-7033fb67d7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0031e4-83cd-467b-b13d-7033fb67d7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463A37-8CA0-4857-A07A-FF757FF433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A9E113-0901-4645-BDF5-809E16F90F34}">
  <ds:schemaRefs>
    <ds:schemaRef ds:uri="23ac20b6-683d-4c4f-ba1b-9970f7ba55db"/>
    <ds:schemaRef ds:uri="ab9fdfa0-8ff2-4c96-bd80-62d81906da1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3BE4104-4126-4ACF-A176-27C20BA13A65}">
  <ds:schemaRefs>
    <ds:schemaRef ds:uri="f20031e4-83cd-467b-b13d-7033fb67d7b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472</TotalTime>
  <Words>3144</Words>
  <Application>Microsoft Office PowerPoint</Application>
  <PresentationFormat>Expunere pe ecran (4:3)</PresentationFormat>
  <Paragraphs>360</Paragraphs>
  <Slides>34</Slides>
  <Notes>33</Notes>
  <HiddenSlides>0</HiddenSlides>
  <MMClips>0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34</vt:i4>
      </vt:variant>
    </vt:vector>
  </HeadingPairs>
  <TitlesOfParts>
    <vt:vector size="41" baseType="lpstr">
      <vt:lpstr>Aptos</vt:lpstr>
      <vt:lpstr>Arial</vt:lpstr>
      <vt:lpstr>Cambria Math</vt:lpstr>
      <vt:lpstr>Tahoma</vt:lpstr>
      <vt:lpstr>Times New Roman</vt:lpstr>
      <vt:lpstr>Wingdings</vt:lpstr>
      <vt:lpstr>Blends</vt:lpstr>
      <vt:lpstr>FILTRAREA ZGOMOTULUI DE FUNDAL ÎN CONVERSAȚIILE TELEFONICE –  </vt:lpstr>
      <vt:lpstr>1. Definirea problemei</vt:lpstr>
      <vt:lpstr>1. Definirea problemei</vt:lpstr>
      <vt:lpstr>2. Suport teoretic si implementare –schema bloc</vt:lpstr>
      <vt:lpstr>2. Suport teoretic si implementare –schema bloc</vt:lpstr>
      <vt:lpstr>2.1. Componenta 1 – Generarea zgomotului/ vocii zgomotoase </vt:lpstr>
      <vt:lpstr>2.1. Componenta 1 – Generarea zgomotului/ vocii zgomotoase </vt:lpstr>
      <vt:lpstr>2.1. Componenta 1 – Generarea zgomotului/ vocii zgomotoase </vt:lpstr>
      <vt:lpstr>2.2. Componenta 2 – Filtru FIR Trece-Jos</vt:lpstr>
      <vt:lpstr>2.2. Componenta 2 – Filtru FIR Trece-Jos</vt:lpstr>
      <vt:lpstr>2.3. Componenta 3 Filtrare Wavelet + Wiener</vt:lpstr>
      <vt:lpstr>2.3. Componenta 3 Filtrare Wavelet + Wiener</vt:lpstr>
      <vt:lpstr>2.3. Componenta 3 Filtrare Wavelet + Wiener</vt:lpstr>
      <vt:lpstr>2.4. Componenta 4 Filtrare Wavelet Packet Denoising</vt:lpstr>
      <vt:lpstr>2.4. Componenta 4 Filtrare Wavelet Packet Denoising</vt:lpstr>
      <vt:lpstr>2.5. Componenta 5- Clasificare Automată cu CNN </vt:lpstr>
      <vt:lpstr>2.5. Componenta 5- Clasificare Automată cu CNN </vt:lpstr>
      <vt:lpstr>2.5. Componenta 5- Clasificare Automată cu CNN </vt:lpstr>
      <vt:lpstr>2.5. Componenta 5- Clasificare Automată cu CNN- Resnet50</vt:lpstr>
      <vt:lpstr>2.5. Componenta 5- Clasificare Automată cu CNN- Squeezenet</vt:lpstr>
      <vt:lpstr>2.6. Componenta 6- MFCC + Weka</vt:lpstr>
      <vt:lpstr>2.6. Componenta 6- MFCC + Weka</vt:lpstr>
      <vt:lpstr>2.6. Componenta 6- MFCC + Weka</vt:lpstr>
      <vt:lpstr>2.6. Componenta 6- MFCC + Weka</vt:lpstr>
      <vt:lpstr>2.7. Componenta 7 Metrici obiective</vt:lpstr>
      <vt:lpstr>2.7. Componenta 7 Metrici obiective</vt:lpstr>
      <vt:lpstr>3. Performante</vt:lpstr>
      <vt:lpstr>3. Performante</vt:lpstr>
      <vt:lpstr>3. Performante</vt:lpstr>
      <vt:lpstr>4. Demo</vt:lpstr>
      <vt:lpstr>4. Demo</vt:lpstr>
      <vt:lpstr>5. Intrebari recapitulative</vt:lpstr>
      <vt:lpstr>6. Bibliografie</vt:lpstr>
      <vt:lpstr>6. Bibliografie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Wavelet Packets</dc:title>
  <dc:creator>Mircea</dc:creator>
  <cp:lastModifiedBy>Paul Cristian Zegreanu</cp:lastModifiedBy>
  <cp:revision>25</cp:revision>
  <dcterms:created xsi:type="dcterms:W3CDTF">2003-12-08T10:36:43Z</dcterms:created>
  <dcterms:modified xsi:type="dcterms:W3CDTF">2025-06-02T23:43:30Z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0x010100D28A205F972A7545BC56897053B859AA</vt:lpwstr>
  </property>
  <property fmtid="{D5CDD505-2E9C-101B-9397-08002B2CF9AE}" pid="3" name="MediaServiceImageTags">
    <vt:lpwstr/>
  </property>
  <property fmtid="{D5CDD505-2E9C-101B-9397-08002B2CF9AE}" pid="4" name="MSIP_Label_5b58b62f-6f94-46bd-8089-18e64b0a9abb_Enabled">
    <vt:lpwstr>true</vt:lpwstr>
  </property>
  <property fmtid="{D5CDD505-2E9C-101B-9397-08002B2CF9AE}" pid="5" name="MSIP_Label_5b58b62f-6f94-46bd-8089-18e64b0a9abb_SetDate">
    <vt:lpwstr>2025-05-06T06:00:05Z</vt:lpwstr>
  </property>
  <property fmtid="{D5CDD505-2E9C-101B-9397-08002B2CF9AE}" pid="6" name="MSIP_Label_5b58b62f-6f94-46bd-8089-18e64b0a9abb_Method">
    <vt:lpwstr>Standard</vt:lpwstr>
  </property>
  <property fmtid="{D5CDD505-2E9C-101B-9397-08002B2CF9AE}" pid="7" name="MSIP_Label_5b58b62f-6f94-46bd-8089-18e64b0a9abb_Name">
    <vt:lpwstr>defa4170-0d19-0005-0004-bc88714345d2</vt:lpwstr>
  </property>
  <property fmtid="{D5CDD505-2E9C-101B-9397-08002B2CF9AE}" pid="8" name="MSIP_Label_5b58b62f-6f94-46bd-8089-18e64b0a9abb_SiteId">
    <vt:lpwstr>a6eb79fa-c4a9-4cce-818d-b85274d15305</vt:lpwstr>
  </property>
  <property fmtid="{D5CDD505-2E9C-101B-9397-08002B2CF9AE}" pid="9" name="MSIP_Label_5b58b62f-6f94-46bd-8089-18e64b0a9abb_ActionId">
    <vt:lpwstr>35891780-e9b4-4621-9f70-d48fc005462b</vt:lpwstr>
  </property>
  <property fmtid="{D5CDD505-2E9C-101B-9397-08002B2CF9AE}" pid="10" name="MSIP_Label_5b58b62f-6f94-46bd-8089-18e64b0a9abb_ContentBits">
    <vt:lpwstr>0</vt:lpwstr>
  </property>
  <property fmtid="{D5CDD505-2E9C-101B-9397-08002B2CF9AE}" pid="11" name="MSIP_Label_5b58b62f-6f94-46bd-8089-18e64b0a9abb_Tag">
    <vt:lpwstr>10, 3, 0, 1</vt:lpwstr>
  </property>
</Properties>
</file>